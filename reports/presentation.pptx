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92460e-88ff-a07c-f882-16db81ead928}">
          <p14:sldIdLst>
            <p14:sldId id="256"/>
            <p14:sldId id="257"/>
            <p14:sldId id="258"/>
          </p14:sldIdLst>
        </p14:section>
        <p14:section name="Method" id="{b6ba7e9e-9643-06ac-cabc-11d48fafd833}">
          <p14:sldIdLst>
            <p14:sldId id="259"/>
            <p14:sldId id="260"/>
            <p14:sldId id="261"/>
            <p14:sldId id="262"/>
          </p14:sldIdLst>
        </p14:section>
        <p14:section name="Results" id="{dfc55e72-61c9-e235-3e13-336cf210d180}">
          <p14:sldIdLst>
            <p14:sldId id="263"/>
            <p14:sldId id="264"/>
            <p14:sldId id="265"/>
            <p14:sldId id="266"/>
            <p14:sldId id="267"/>
          </p14:sldIdLst>
        </p14:section>
        <p14:section name="Status and outlook" id="{0562ae02-9157-2818-4642-3ac3fe96d3cc}">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ROC curve, test split</a:t>
            </a:r>
          </a:p>
        </c:rich>
      </c:tx>
      <c:layout/>
      <c:overlay val="0"/>
    </c:title>
    <c:autoTitleDeleted val="0"/>
    <c:plotArea>
      <c:layout/>
      <c:scatterChart>
        <c:scatterStyle val="lineMarker"/>
        <c:varyColors val="0"/>
        <c:ser>
          <c:idx val="0"/>
          <c:order val="0"/>
          <c:tx>
            <c:strRef>
              <c:f>Sheet1!$B$1</c:f>
              <c:strCache>
                <c:ptCount val="1"/>
                <c:pt idx="0">
                  <c:v>Voice model (AUC 0.977)</c:v>
                </c:pt>
              </c:strCache>
            </c:strRef>
          </c:tx>
          <c:spPr>
            <a:solidFill>
              <a:srgbClr val="4F46E5"/>
            </a:solidFill>
            <a:ln w="31750" cap="flat">
              <a:solidFill>
                <a:srgbClr val="4F46E5"/>
              </a:solidFill>
              <a:prstDash val="solid"/>
              <a:round/>
            </a:ln>
            <a:effectLst/>
          </c:spPr>
          <c:marker>
            <c:symbol val="none"/>
            <c:size val="6"/>
            <c:spPr>
              <a:solidFill>
                <a:srgbClr val="4F46E5"/>
              </a:solidFill>
              <a:ln w="9525" cap="flat">
                <a:solidFill>
                  <a:srgbClr val="4F46E5"/>
                </a:solidFill>
                <a:prstDash val="solid"/>
                <a:round/>
              </a:ln>
              <a:effectLst/>
            </c:spPr>
          </c:marker>
          <c:xVal>
            <c:numRef>
              <c:f>Sheet1!$A$2:$A$56</c:f>
              <c:numCache>
                <c:formatCode>General</c:formatCode>
                <c:ptCount val="55"/>
                <c:pt idx="0">
                  <c:v>0</c:v>
                </c:pt>
                <c:pt idx="1">
                  <c:v>0.001</c:v>
                </c:pt>
                <c:pt idx="2">
                  <c:v>0.002</c:v>
                </c:pt>
                <c:pt idx="3">
                  <c:v>0.003</c:v>
                </c:pt>
                <c:pt idx="4">
                  <c:v>0.004</c:v>
                </c:pt>
                <c:pt idx="5">
                  <c:v>0.005</c:v>
                </c:pt>
                <c:pt idx="6">
                  <c:v>0.006</c:v>
                </c:pt>
                <c:pt idx="7">
                  <c:v>0.007</c:v>
                </c:pt>
                <c:pt idx="8">
                  <c:v>0.008</c:v>
                </c:pt>
                <c:pt idx="9">
                  <c:v>0.009</c:v>
                </c:pt>
                <c:pt idx="10">
                  <c:v>0.01</c:v>
                </c:pt>
                <c:pt idx="11">
                  <c:v>0.011</c:v>
                </c:pt>
                <c:pt idx="12">
                  <c:v>0.012</c:v>
                </c:pt>
                <c:pt idx="13">
                  <c:v>0.013</c:v>
                </c:pt>
                <c:pt idx="14">
                  <c:v>0.014</c:v>
                </c:pt>
                <c:pt idx="15">
                  <c:v>0.015</c:v>
                </c:pt>
                <c:pt idx="16">
                  <c:v>0.016</c:v>
                </c:pt>
                <c:pt idx="17">
                  <c:v>0.017</c:v>
                </c:pt>
                <c:pt idx="18">
                  <c:v>0.018</c:v>
                </c:pt>
                <c:pt idx="19">
                  <c:v>0.019</c:v>
                </c:pt>
                <c:pt idx="20">
                  <c:v>0.02</c:v>
                </c:pt>
                <c:pt idx="21">
                  <c:v>0.03</c:v>
                </c:pt>
                <c:pt idx="22">
                  <c:v>0.04</c:v>
                </c:pt>
                <c:pt idx="23">
                  <c:v>0.05</c:v>
                </c:pt>
                <c:pt idx="24">
                  <c:v>0.06</c:v>
                </c:pt>
                <c:pt idx="25">
                  <c:v>0.07</c:v>
                </c:pt>
                <c:pt idx="26">
                  <c:v>0.08</c:v>
                </c:pt>
                <c:pt idx="27">
                  <c:v>0.09</c:v>
                </c:pt>
                <c:pt idx="28">
                  <c:v>0.1</c:v>
                </c:pt>
                <c:pt idx="29">
                  <c:v>0.11</c:v>
                </c:pt>
                <c:pt idx="30">
                  <c:v>0.12</c:v>
                </c:pt>
                <c:pt idx="31">
                  <c:v>0.13</c:v>
                </c:pt>
                <c:pt idx="32">
                  <c:v>0.14</c:v>
                </c:pt>
                <c:pt idx="33">
                  <c:v>0.15</c:v>
                </c:pt>
                <c:pt idx="34">
                  <c:v>0.16</c:v>
                </c:pt>
                <c:pt idx="35">
                  <c:v>0.17</c:v>
                </c:pt>
                <c:pt idx="36">
                  <c:v>0.18</c:v>
                </c:pt>
                <c:pt idx="37">
                  <c:v>0.19</c:v>
                </c:pt>
                <c:pt idx="38">
                  <c:v>0.2</c:v>
                </c:pt>
                <c:pt idx="39">
                  <c:v>0.25</c:v>
                </c:pt>
                <c:pt idx="40">
                  <c:v>0.3</c:v>
                </c:pt>
                <c:pt idx="41">
                  <c:v>0.35</c:v>
                </c:pt>
                <c:pt idx="42">
                  <c:v>0.4</c:v>
                </c:pt>
                <c:pt idx="43">
                  <c:v>0.45</c:v>
                </c:pt>
                <c:pt idx="44">
                  <c:v>0.5</c:v>
                </c:pt>
                <c:pt idx="45">
                  <c:v>0.55</c:v>
                </c:pt>
                <c:pt idx="46">
                  <c:v>0.6</c:v>
                </c:pt>
                <c:pt idx="47">
                  <c:v>0.65</c:v>
                </c:pt>
                <c:pt idx="48">
                  <c:v>0.7</c:v>
                </c:pt>
                <c:pt idx="49">
                  <c:v>0.75</c:v>
                </c:pt>
                <c:pt idx="50">
                  <c:v>0.8</c:v>
                </c:pt>
                <c:pt idx="51">
                  <c:v>0.85</c:v>
                </c:pt>
                <c:pt idx="52">
                  <c:v>0.9</c:v>
                </c:pt>
                <c:pt idx="53">
                  <c:v>0.95</c:v>
                </c:pt>
                <c:pt idx="54">
                  <c:v>1</c:v>
                </c:pt>
              </c:numCache>
            </c:numRef>
          </c:xVal>
          <c:yVal>
            <c:numRef>
              <c:f>Sheet1!$B$2:$B$56</c:f>
              <c:numCache>
                <c:formatCode>General</c:formatCode>
                <c:ptCount val="55"/>
                <c:pt idx="0">
                  <c:v>0</c:v>
                </c:pt>
                <c:pt idx="1">
                  <c:v>0.602</c:v>
                </c:pt>
                <c:pt idx="2">
                  <c:v>0.7056</c:v>
                </c:pt>
                <c:pt idx="3">
                  <c:v>0.7324</c:v>
                </c:pt>
                <c:pt idx="4">
                  <c:v>0.768</c:v>
                </c:pt>
                <c:pt idx="5">
                  <c:v>0.776</c:v>
                </c:pt>
                <c:pt idx="6">
                  <c:v>0.8252</c:v>
                </c:pt>
                <c:pt idx="7">
                  <c:v>0.8268</c:v>
                </c:pt>
                <c:pt idx="8">
                  <c:v>0.8328</c:v>
                </c:pt>
                <c:pt idx="9">
                  <c:v>0.8332</c:v>
                </c:pt>
                <c:pt idx="10">
                  <c:v>0.844</c:v>
                </c:pt>
                <c:pt idx="11">
                  <c:v>0.85</c:v>
                </c:pt>
                <c:pt idx="12">
                  <c:v>0.8516</c:v>
                </c:pt>
                <c:pt idx="13">
                  <c:v>0.8544</c:v>
                </c:pt>
                <c:pt idx="14">
                  <c:v>0.8584</c:v>
                </c:pt>
                <c:pt idx="15">
                  <c:v>0.8636</c:v>
                </c:pt>
                <c:pt idx="16">
                  <c:v>0.8668</c:v>
                </c:pt>
                <c:pt idx="17">
                  <c:v>0.8728</c:v>
                </c:pt>
                <c:pt idx="18">
                  <c:v>0.8748</c:v>
                </c:pt>
                <c:pt idx="19">
                  <c:v>0.8816</c:v>
                </c:pt>
                <c:pt idx="20">
                  <c:v>0.882</c:v>
                </c:pt>
                <c:pt idx="21">
                  <c:v>0.9084</c:v>
                </c:pt>
                <c:pt idx="22">
                  <c:v>0.9184</c:v>
                </c:pt>
                <c:pt idx="23">
                  <c:v>0.9284</c:v>
                </c:pt>
                <c:pt idx="24">
                  <c:v>0.9364</c:v>
                </c:pt>
                <c:pt idx="25">
                  <c:v>0.9408</c:v>
                </c:pt>
                <c:pt idx="26">
                  <c:v>0.9412</c:v>
                </c:pt>
                <c:pt idx="27">
                  <c:v>0.944</c:v>
                </c:pt>
                <c:pt idx="28">
                  <c:v>0.9452</c:v>
                </c:pt>
                <c:pt idx="29">
                  <c:v>0.95</c:v>
                </c:pt>
                <c:pt idx="30">
                  <c:v>0.9532</c:v>
                </c:pt>
                <c:pt idx="31">
                  <c:v>0.9556</c:v>
                </c:pt>
                <c:pt idx="32">
                  <c:v>0.9576</c:v>
                </c:pt>
                <c:pt idx="33">
                  <c:v>0.9584</c:v>
                </c:pt>
                <c:pt idx="34">
                  <c:v>0.96</c:v>
                </c:pt>
                <c:pt idx="35">
                  <c:v>0.9628</c:v>
                </c:pt>
                <c:pt idx="36">
                  <c:v>0.9648</c:v>
                </c:pt>
                <c:pt idx="37">
                  <c:v>0.9656</c:v>
                </c:pt>
                <c:pt idx="38">
                  <c:v>0.9664</c:v>
                </c:pt>
                <c:pt idx="39">
                  <c:v>0.9708</c:v>
                </c:pt>
                <c:pt idx="40">
                  <c:v>0.974</c:v>
                </c:pt>
                <c:pt idx="41">
                  <c:v>0.9772</c:v>
                </c:pt>
                <c:pt idx="42">
                  <c:v>0.98</c:v>
                </c:pt>
                <c:pt idx="43">
                  <c:v>0.9824</c:v>
                </c:pt>
                <c:pt idx="44">
                  <c:v>0.9856</c:v>
                </c:pt>
                <c:pt idx="45">
                  <c:v>0.9884</c:v>
                </c:pt>
                <c:pt idx="46">
                  <c:v>0.9904</c:v>
                </c:pt>
                <c:pt idx="47">
                  <c:v>0.994</c:v>
                </c:pt>
                <c:pt idx="48">
                  <c:v>0.9956</c:v>
                </c:pt>
                <c:pt idx="49">
                  <c:v>0.9964</c:v>
                </c:pt>
                <c:pt idx="50">
                  <c:v>0.9984</c:v>
                </c:pt>
                <c:pt idx="51">
                  <c:v>0.9992</c:v>
                </c:pt>
                <c:pt idx="52">
                  <c:v>0.9992</c:v>
                </c:pt>
                <c:pt idx="53">
                  <c:v>0.9996</c:v>
                </c:pt>
                <c:pt idx="54">
                  <c:v>1</c:v>
                </c:pt>
              </c:numCache>
            </c:numRef>
          </c:yVal>
          <c:smooth val="0"/>
        </c:ser>
        <c:ser>
          <c:idx val="1"/>
          <c:order val="1"/>
          <c:tx>
            <c:strRef>
              <c:f>Sheet1!$C$1</c:f>
              <c:strCache>
                <c:ptCount val="1"/>
                <c:pt idx="0">
                  <c:v>Chance</c:v>
                </c:pt>
              </c:strCache>
            </c:strRef>
          </c:tx>
          <c:spPr>
            <a:solidFill>
              <a:srgbClr val="94A3B8"/>
            </a:solidFill>
            <a:ln w="31750" cap="flat">
              <a:solidFill>
                <a:srgbClr val="94A3B8"/>
              </a:solidFill>
              <a:prstDash val="solid"/>
              <a:round/>
            </a:ln>
            <a:effectLst/>
          </c:spPr>
          <c:marker>
            <c:symbol val="none"/>
            <c:size val="6"/>
            <c:spPr>
              <a:solidFill>
                <a:srgbClr val="94A3B8"/>
              </a:solidFill>
              <a:ln w="9525" cap="flat">
                <a:solidFill>
                  <a:srgbClr val="94A3B8"/>
                </a:solidFill>
                <a:prstDash val="solid"/>
                <a:round/>
              </a:ln>
              <a:effectLst/>
            </c:spPr>
          </c:marker>
          <c:xVal>
            <c:numRef>
              <c:f>Sheet1!$A$2:$A$56</c:f>
              <c:numCache>
                <c:formatCode>General</c:formatCode>
                <c:ptCount val="55"/>
                <c:pt idx="0">
                  <c:v>0</c:v>
                </c:pt>
                <c:pt idx="1">
                  <c:v>0.001</c:v>
                </c:pt>
                <c:pt idx="2">
                  <c:v>0.002</c:v>
                </c:pt>
                <c:pt idx="3">
                  <c:v>0.003</c:v>
                </c:pt>
                <c:pt idx="4">
                  <c:v>0.004</c:v>
                </c:pt>
                <c:pt idx="5">
                  <c:v>0.005</c:v>
                </c:pt>
                <c:pt idx="6">
                  <c:v>0.006</c:v>
                </c:pt>
                <c:pt idx="7">
                  <c:v>0.007</c:v>
                </c:pt>
                <c:pt idx="8">
                  <c:v>0.008</c:v>
                </c:pt>
                <c:pt idx="9">
                  <c:v>0.009</c:v>
                </c:pt>
                <c:pt idx="10">
                  <c:v>0.01</c:v>
                </c:pt>
                <c:pt idx="11">
                  <c:v>0.011</c:v>
                </c:pt>
                <c:pt idx="12">
                  <c:v>0.012</c:v>
                </c:pt>
                <c:pt idx="13">
                  <c:v>0.013</c:v>
                </c:pt>
                <c:pt idx="14">
                  <c:v>0.014</c:v>
                </c:pt>
                <c:pt idx="15">
                  <c:v>0.015</c:v>
                </c:pt>
                <c:pt idx="16">
                  <c:v>0.016</c:v>
                </c:pt>
                <c:pt idx="17">
                  <c:v>0.017</c:v>
                </c:pt>
                <c:pt idx="18">
                  <c:v>0.018</c:v>
                </c:pt>
                <c:pt idx="19">
                  <c:v>0.019</c:v>
                </c:pt>
                <c:pt idx="20">
                  <c:v>0.02</c:v>
                </c:pt>
                <c:pt idx="21">
                  <c:v>0.03</c:v>
                </c:pt>
                <c:pt idx="22">
                  <c:v>0.04</c:v>
                </c:pt>
                <c:pt idx="23">
                  <c:v>0.05</c:v>
                </c:pt>
                <c:pt idx="24">
                  <c:v>0.06</c:v>
                </c:pt>
                <c:pt idx="25">
                  <c:v>0.07</c:v>
                </c:pt>
                <c:pt idx="26">
                  <c:v>0.08</c:v>
                </c:pt>
                <c:pt idx="27">
                  <c:v>0.09</c:v>
                </c:pt>
                <c:pt idx="28">
                  <c:v>0.1</c:v>
                </c:pt>
                <c:pt idx="29">
                  <c:v>0.11</c:v>
                </c:pt>
                <c:pt idx="30">
                  <c:v>0.12</c:v>
                </c:pt>
                <c:pt idx="31">
                  <c:v>0.13</c:v>
                </c:pt>
                <c:pt idx="32">
                  <c:v>0.14</c:v>
                </c:pt>
                <c:pt idx="33">
                  <c:v>0.15</c:v>
                </c:pt>
                <c:pt idx="34">
                  <c:v>0.16</c:v>
                </c:pt>
                <c:pt idx="35">
                  <c:v>0.17</c:v>
                </c:pt>
                <c:pt idx="36">
                  <c:v>0.18</c:v>
                </c:pt>
                <c:pt idx="37">
                  <c:v>0.19</c:v>
                </c:pt>
                <c:pt idx="38">
                  <c:v>0.2</c:v>
                </c:pt>
                <c:pt idx="39">
                  <c:v>0.25</c:v>
                </c:pt>
                <c:pt idx="40">
                  <c:v>0.3</c:v>
                </c:pt>
                <c:pt idx="41">
                  <c:v>0.35</c:v>
                </c:pt>
                <c:pt idx="42">
                  <c:v>0.4</c:v>
                </c:pt>
                <c:pt idx="43">
                  <c:v>0.45</c:v>
                </c:pt>
                <c:pt idx="44">
                  <c:v>0.5</c:v>
                </c:pt>
                <c:pt idx="45">
                  <c:v>0.55</c:v>
                </c:pt>
                <c:pt idx="46">
                  <c:v>0.6</c:v>
                </c:pt>
                <c:pt idx="47">
                  <c:v>0.65</c:v>
                </c:pt>
                <c:pt idx="48">
                  <c:v>0.7</c:v>
                </c:pt>
                <c:pt idx="49">
                  <c:v>0.75</c:v>
                </c:pt>
                <c:pt idx="50">
                  <c:v>0.8</c:v>
                </c:pt>
                <c:pt idx="51">
                  <c:v>0.85</c:v>
                </c:pt>
                <c:pt idx="52">
                  <c:v>0.9</c:v>
                </c:pt>
                <c:pt idx="53">
                  <c:v>0.95</c:v>
                </c:pt>
                <c:pt idx="54">
                  <c:v>1</c:v>
                </c:pt>
              </c:numCache>
            </c:numRef>
          </c:xVal>
          <c:yVal>
            <c:numRef>
              <c:f>Sheet1!$C$2:$C$56</c:f>
              <c:numCache>
                <c:formatCode>General</c:formatCode>
                <c:ptCount val="55"/>
                <c:pt idx="0">
                  <c:v>0</c:v>
                </c:pt>
                <c:pt idx="1">
                  <c:v>0.001</c:v>
                </c:pt>
                <c:pt idx="2">
                  <c:v>0.002</c:v>
                </c:pt>
                <c:pt idx="3">
                  <c:v>0.003</c:v>
                </c:pt>
                <c:pt idx="4">
                  <c:v>0.004</c:v>
                </c:pt>
                <c:pt idx="5">
                  <c:v>0.005</c:v>
                </c:pt>
                <c:pt idx="6">
                  <c:v>0.006</c:v>
                </c:pt>
                <c:pt idx="7">
                  <c:v>0.007</c:v>
                </c:pt>
                <c:pt idx="8">
                  <c:v>0.008</c:v>
                </c:pt>
                <c:pt idx="9">
                  <c:v>0.009</c:v>
                </c:pt>
                <c:pt idx="10">
                  <c:v>0.01</c:v>
                </c:pt>
                <c:pt idx="11">
                  <c:v>0.011</c:v>
                </c:pt>
                <c:pt idx="12">
                  <c:v>0.012</c:v>
                </c:pt>
                <c:pt idx="13">
                  <c:v>0.013</c:v>
                </c:pt>
                <c:pt idx="14">
                  <c:v>0.014</c:v>
                </c:pt>
                <c:pt idx="15">
                  <c:v>0.015</c:v>
                </c:pt>
                <c:pt idx="16">
                  <c:v>0.016</c:v>
                </c:pt>
                <c:pt idx="17">
                  <c:v>0.017</c:v>
                </c:pt>
                <c:pt idx="18">
                  <c:v>0.018</c:v>
                </c:pt>
                <c:pt idx="19">
                  <c:v>0.019</c:v>
                </c:pt>
                <c:pt idx="20">
                  <c:v>0.02</c:v>
                </c:pt>
                <c:pt idx="21">
                  <c:v>0.03</c:v>
                </c:pt>
                <c:pt idx="22">
                  <c:v>0.04</c:v>
                </c:pt>
                <c:pt idx="23">
                  <c:v>0.05</c:v>
                </c:pt>
                <c:pt idx="24">
                  <c:v>0.06</c:v>
                </c:pt>
                <c:pt idx="25">
                  <c:v>0.07</c:v>
                </c:pt>
                <c:pt idx="26">
                  <c:v>0.08</c:v>
                </c:pt>
                <c:pt idx="27">
                  <c:v>0.09</c:v>
                </c:pt>
                <c:pt idx="28">
                  <c:v>0.1</c:v>
                </c:pt>
                <c:pt idx="29">
                  <c:v>0.11</c:v>
                </c:pt>
                <c:pt idx="30">
                  <c:v>0.12</c:v>
                </c:pt>
                <c:pt idx="31">
                  <c:v>0.13</c:v>
                </c:pt>
                <c:pt idx="32">
                  <c:v>0.14</c:v>
                </c:pt>
                <c:pt idx="33">
                  <c:v>0.15</c:v>
                </c:pt>
                <c:pt idx="34">
                  <c:v>0.16</c:v>
                </c:pt>
                <c:pt idx="35">
                  <c:v>0.17</c:v>
                </c:pt>
                <c:pt idx="36">
                  <c:v>0.18</c:v>
                </c:pt>
                <c:pt idx="37">
                  <c:v>0.19</c:v>
                </c:pt>
                <c:pt idx="38">
                  <c:v>0.2</c:v>
                </c:pt>
                <c:pt idx="39">
                  <c:v>0.25</c:v>
                </c:pt>
                <c:pt idx="40">
                  <c:v>0.3</c:v>
                </c:pt>
                <c:pt idx="41">
                  <c:v>0.35</c:v>
                </c:pt>
                <c:pt idx="42">
                  <c:v>0.4</c:v>
                </c:pt>
                <c:pt idx="43">
                  <c:v>0.45</c:v>
                </c:pt>
                <c:pt idx="44">
                  <c:v>0.5</c:v>
                </c:pt>
                <c:pt idx="45">
                  <c:v>0.55</c:v>
                </c:pt>
                <c:pt idx="46">
                  <c:v>0.6</c:v>
                </c:pt>
                <c:pt idx="47">
                  <c:v>0.65</c:v>
                </c:pt>
                <c:pt idx="48">
                  <c:v>0.7</c:v>
                </c:pt>
                <c:pt idx="49">
                  <c:v>0.75</c:v>
                </c:pt>
                <c:pt idx="50">
                  <c:v>0.8</c:v>
                </c:pt>
                <c:pt idx="51">
                  <c:v>0.85</c:v>
                </c:pt>
                <c:pt idx="52">
                  <c:v>0.9</c:v>
                </c:pt>
                <c:pt idx="53">
                  <c:v>0.95</c:v>
                </c:pt>
                <c:pt idx="54">
                  <c:v>1</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64748B"/>
                    </a:solidFill>
                    <a:latin typeface="+mn-lt"/>
                  </a:defRPr>
                </a:pPr>
                <a:r>
                  <a:rPr sz="1200" b="0" i="0" u="none" strike="noStrike">
                    <a:solidFill>
                      <a:srgbClr val="64748B"/>
                    </a:solidFill>
                    <a:latin typeface="+mn-lt"/>
                  </a:rPr>
                  <a:t>False positive rate</a:t>
                </a:r>
              </a:p>
            </c:rich>
          </c:tx>
          <c:layout/>
          <c:overlay val="0"/>
        </c:title>
        <c:numFmt formatCode="General" sourceLinked="1"/>
        <c:majorTickMark val="none"/>
        <c:minorTickMark val="none"/>
        <c:tickLblPos val="nextTo"/>
        <c:spPr>
          <a:ln w="12700" cap="flat">
            <a:no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majorUnit val="0.2"/>
      </c:valAx>
      <c:valAx>
        <c:axId val="2094734552"/>
        <c:scaling>
          <c:orientation val="minMax"/>
          <c:max val="1"/>
          <c:min val="0"/>
        </c:scaling>
        <c:delete val="0"/>
        <c:axPos val="l"/>
        <c:majorGridlines>
          <c:spPr>
            <a:ln w="9525" cap="flat">
              <a:solidFill>
                <a:srgbClr val="E2E8F0"/>
              </a:solidFill>
              <a:prstDash val="solid"/>
              <a:round/>
            </a:ln>
          </c:spPr>
        </c:majorGridlines>
        <c:title>
          <c:tx>
            <c:rich>
              <a:bodyPr/>
              <a:lstStyle/>
              <a:p>
                <a:pPr>
                  <a:defRPr sz="1200" b="0" i="0" u="none" strike="noStrike">
                    <a:solidFill>
                      <a:srgbClr val="64748B"/>
                    </a:solidFill>
                    <a:latin typeface="+mn-lt"/>
                  </a:defRPr>
                </a:pPr>
                <a:r>
                  <a:rPr sz="1200" b="0" i="0" u="none" strike="noStrike">
                    <a:solidFill>
                      <a:srgbClr val="64748B"/>
                    </a:solidFill>
                    <a:latin typeface="+mn-lt"/>
                  </a:rPr>
                  <a:t>True positive rate</a:t>
                </a:r>
              </a:p>
            </c:rich>
          </c:tx>
          <c:layout/>
          <c:overlay val="0"/>
        </c:title>
        <c:numFmt formatCode="General" sourceLinked="0"/>
        <c:majorTickMark val="none"/>
        <c:minorTickMark val="none"/>
        <c:tickLblPos val="nextTo"/>
        <c:spPr>
          <a:ln w="12700" cap="flat">
            <a:no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midCat"/>
        <c:majorUnit val="0.2"/>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Spoofed clips detected at threshold 0.5, per attack system (%)</a:t>
            </a:r>
          </a:p>
        </c:rich>
      </c:tx>
      <c:layout/>
      <c:overlay val="0"/>
    </c:title>
    <c:autoTitleDeleted val="0"/>
    <c:plotArea>
      <c:layout/>
      <c:barChart>
        <c:barDir val="col"/>
        <c:grouping val="stacked"/>
        <c:varyColors val="0"/>
        <c:ser>
          <c:idx val="0"/>
          <c:order val="0"/>
          <c:tx>
            <c:strRef>
              <c:f>Sheet1!$B$1</c:f>
              <c:strCache>
                <c:ptCount val="1"/>
                <c:pt idx="0">
                  <c:v>Detected ≥ 90%</c:v>
                </c:pt>
              </c:strCache>
            </c:strRef>
          </c:tx>
          <c:spPr>
            <a:solidFill>
              <a:srgbClr val="4F46E5"/>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Sheet1!$A$2:$A$14</c:f>
              <c:multiLvlStrCache>
                <c:ptCount val="13"/>
                <c:lvl>
                  <c:pt idx="0">
                    <c:v>A07</c:v>
                  </c:pt>
                  <c:pt idx="1">
                    <c:v>A08</c:v>
                  </c:pt>
                  <c:pt idx="2">
                    <c:v>A09</c:v>
                  </c:pt>
                  <c:pt idx="3">
                    <c:v>A10</c:v>
                  </c:pt>
                  <c:pt idx="4">
                    <c:v>A11</c:v>
                  </c:pt>
                  <c:pt idx="5">
                    <c:v>A12</c:v>
                  </c:pt>
                  <c:pt idx="6">
                    <c:v>A13</c:v>
                  </c:pt>
                  <c:pt idx="7">
                    <c:v>A14</c:v>
                  </c:pt>
                  <c:pt idx="8">
                    <c:v>A15</c:v>
                  </c:pt>
                  <c:pt idx="9">
                    <c:v>A16</c:v>
                  </c:pt>
                  <c:pt idx="10">
                    <c:v>A17</c:v>
                  </c:pt>
                  <c:pt idx="11">
                    <c:v>A18</c:v>
                  </c:pt>
                  <c:pt idx="12">
                    <c:v>A19</c:v>
                  </c:pt>
                </c:lvl>
              </c:multiLvlStrCache>
            </c:multiLvlStrRef>
          </c:cat>
          <c:val>
            <c:numRef>
              <c:f>Sheet1!$B$2:$B$14</c:f>
              <c:numCache>
                <c:formatCode>General</c:formatCode>
                <c:ptCount val="13"/>
                <c:pt idx="0">
                  <c:v>100</c:v>
                </c:pt>
                <c:pt idx="1">
                  <c:v>100</c:v>
                </c:pt>
                <c:pt idx="2">
                  <c:v>100</c:v>
                </c:pt>
                <c:pt idx="3">
                  <c:v>0</c:v>
                </c:pt>
                <c:pt idx="4">
                  <c:v>100</c:v>
                </c:pt>
                <c:pt idx="5">
                  <c:v>0</c:v>
                </c:pt>
                <c:pt idx="6">
                  <c:v>0</c:v>
                </c:pt>
                <c:pt idx="7">
                  <c:v>100</c:v>
                </c:pt>
                <c:pt idx="8">
                  <c:v>94.2</c:v>
                </c:pt>
                <c:pt idx="9">
                  <c:v>100</c:v>
                </c:pt>
                <c:pt idx="10">
                  <c:v>0</c:v>
                </c:pt>
                <c:pt idx="11">
                  <c:v>0</c:v>
                </c:pt>
                <c:pt idx="12">
                  <c:v>99.5</c:v>
                </c:pt>
              </c:numCache>
            </c:numRef>
          </c:val>
        </c:ser>
        <c:ser>
          <c:idx val="1"/>
          <c:order val="1"/>
          <c:tx>
            <c:strRef>
              <c:f>Sheet1!$C$1</c:f>
              <c:strCache>
                <c:ptCount val="1"/>
                <c:pt idx="0">
                  <c:v>Detected &lt; 90%</c:v>
                </c:pt>
              </c:strCache>
            </c:strRef>
          </c:tx>
          <c:spPr>
            <a:solidFill>
              <a:srgbClr val="DC2626"/>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Sheet1!$A$2:$A$14</c:f>
              <c:multiLvlStrCache>
                <c:ptCount val="13"/>
                <c:lvl>
                  <c:pt idx="0">
                    <c:v>A07</c:v>
                  </c:pt>
                  <c:pt idx="1">
                    <c:v>A08</c:v>
                  </c:pt>
                  <c:pt idx="2">
                    <c:v>A09</c:v>
                  </c:pt>
                  <c:pt idx="3">
                    <c:v>A10</c:v>
                  </c:pt>
                  <c:pt idx="4">
                    <c:v>A11</c:v>
                  </c:pt>
                  <c:pt idx="5">
                    <c:v>A12</c:v>
                  </c:pt>
                  <c:pt idx="6">
                    <c:v>A13</c:v>
                  </c:pt>
                  <c:pt idx="7">
                    <c:v>A14</c:v>
                  </c:pt>
                  <c:pt idx="8">
                    <c:v>A15</c:v>
                  </c:pt>
                  <c:pt idx="9">
                    <c:v>A16</c:v>
                  </c:pt>
                  <c:pt idx="10">
                    <c:v>A17</c:v>
                  </c:pt>
                  <c:pt idx="11">
                    <c:v>A18</c:v>
                  </c:pt>
                  <c:pt idx="12">
                    <c:v>A19</c:v>
                  </c:pt>
                </c:lvl>
              </c:multiLvlStrCache>
            </c:multiLvlStrRef>
          </c:cat>
          <c:val>
            <c:numRef>
              <c:f>Sheet1!$C$2:$C$14</c:f>
              <c:numCache>
                <c:formatCode>General</c:formatCode>
                <c:ptCount val="13"/>
                <c:pt idx="0">
                  <c:v>0</c:v>
                </c:pt>
                <c:pt idx="1">
                  <c:v>0</c:v>
                </c:pt>
                <c:pt idx="2">
                  <c:v>0</c:v>
                </c:pt>
                <c:pt idx="3">
                  <c:v>69.4</c:v>
                </c:pt>
                <c:pt idx="4">
                  <c:v>0</c:v>
                </c:pt>
                <c:pt idx="5">
                  <c:v>79.5</c:v>
                </c:pt>
                <c:pt idx="6">
                  <c:v>64.2</c:v>
                </c:pt>
                <c:pt idx="7">
                  <c:v>0</c:v>
                </c:pt>
                <c:pt idx="8">
                  <c:v>0</c:v>
                </c:pt>
                <c:pt idx="9">
                  <c:v>0</c:v>
                </c:pt>
                <c:pt idx="10">
                  <c:v>1.2</c:v>
                </c:pt>
                <c:pt idx="11">
                  <c:v>71.5</c:v>
                </c:pt>
                <c:pt idx="12">
                  <c:v>0</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Loss per epoch</a:t>
            </a:r>
          </a:p>
        </c:rich>
      </c:tx>
      <c:layout/>
      <c:overlay val="0"/>
    </c:title>
    <c:autoTitleDeleted val="0"/>
    <c:plotArea>
      <c:layout/>
      <c:lineChart>
        <c:varyColors val="0"/>
        <c:ser>
          <c:idx val="0"/>
          <c:order val="0"/>
          <c:tx>
            <c:strRef>
              <c:f>Sheet1!$B$1</c:f>
              <c:strCache>
                <c:ptCount val="1"/>
                <c:pt idx="0">
                  <c:v>Train loss</c:v>
                </c:pt>
              </c:strCache>
            </c:strRef>
          </c:tx>
          <c:spPr>
            <a:solidFill>
              <a:srgbClr val="4F46E5"/>
            </a:solidFill>
            <a:ln w="3175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4F46E5"/>
              </a:solidFill>
              <a:ln w="9525" cap="flat">
                <a:solidFill>
                  <a:srgbClr val="4F46E5"/>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0.6427</c:v>
                </c:pt>
                <c:pt idx="1">
                  <c:v>0.194</c:v>
                </c:pt>
                <c:pt idx="2">
                  <c:v>0.0367</c:v>
                </c:pt>
                <c:pt idx="3">
                  <c:v>0.0102</c:v>
                </c:pt>
                <c:pt idx="4">
                  <c:v>0.0173</c:v>
                </c:pt>
                <c:pt idx="5">
                  <c:v>0.0095</c:v>
                </c:pt>
              </c:numCache>
            </c:numRef>
          </c:val>
          <c:smooth val="0"/>
        </c:ser>
        <c:ser>
          <c:idx val="1"/>
          <c:order val="1"/>
          <c:tx>
            <c:strRef>
              <c:f>Sheet1!$C$1</c:f>
              <c:strCache>
                <c:ptCount val="1"/>
                <c:pt idx="0">
                  <c:v>Validation loss</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0EA5E9"/>
              </a:solidFill>
              <a:ln w="9525" cap="flat">
                <a:solidFill>
                  <a:srgbClr val="0EA5E9"/>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0.5526</c:v>
                </c:pt>
                <c:pt idx="1">
                  <c:v>0.0032</c:v>
                </c:pt>
                <c:pt idx="2">
                  <c:v>0.0047</c:v>
                </c:pt>
                <c:pt idx="3">
                  <c:v>0.0026</c:v>
                </c:pt>
                <c:pt idx="4">
                  <c:v>0.0005</c:v>
                </c:pt>
                <c:pt idx="5">
                  <c:v>0.0003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4748B"/>
                    </a:solidFill>
                    <a:latin typeface="+mn-lt"/>
                  </a:defRPr>
                </a:pPr>
                <a:r>
                  <a:rPr sz="1200" b="0" i="0" u="none" strike="noStrike">
                    <a:solidFill>
                      <a:srgbClr val="64748B"/>
                    </a:solidFill>
                    <a:latin typeface="+mn-lt"/>
                  </a:rPr>
                  <a:t>Epoch</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mn-lt"/>
              </a:defRPr>
            </a:pPr>
            <a:r>
              <a:rPr sz="1400" b="0" i="0" u="none" strike="noStrike">
                <a:solidFill>
                  <a:srgbClr val="0F172A"/>
                </a:solidFill>
                <a:latin typeface="+mn-lt"/>
              </a:rPr>
              <a:t>Validation metrics per epoch</a:t>
            </a:r>
          </a:p>
        </c:rich>
      </c:tx>
      <c:layout/>
      <c:overlay val="0"/>
    </c:title>
    <c:autoTitleDeleted val="0"/>
    <c:plotArea>
      <c:layout/>
      <c:lineChart>
        <c:varyColors val="0"/>
        <c:ser>
          <c:idx val="0"/>
          <c:order val="0"/>
          <c:tx>
            <c:strRef>
              <c:f>Sheet1!$B$1</c:f>
              <c:strCache>
                <c:ptCount val="1"/>
                <c:pt idx="0">
                  <c:v>Validation AUC</c:v>
                </c:pt>
              </c:strCache>
            </c:strRef>
          </c:tx>
          <c:spPr>
            <a:solidFill>
              <a:srgbClr val="4F46E5"/>
            </a:solidFill>
            <a:ln w="3175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4F46E5"/>
              </a:solidFill>
              <a:ln w="9525" cap="flat">
                <a:solidFill>
                  <a:srgbClr val="4F46E5"/>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0.8549</c:v>
                </c:pt>
                <c:pt idx="1">
                  <c:v>1</c:v>
                </c:pt>
                <c:pt idx="2">
                  <c:v>1</c:v>
                </c:pt>
                <c:pt idx="3">
                  <c:v>1</c:v>
                </c:pt>
                <c:pt idx="4">
                  <c:v>1</c:v>
                </c:pt>
                <c:pt idx="5">
                  <c:v>1</c:v>
                </c:pt>
              </c:numCache>
            </c:numRef>
          </c:val>
          <c:smooth val="0"/>
        </c:ser>
        <c:ser>
          <c:idx val="1"/>
          <c:order val="1"/>
          <c:tx>
            <c:strRef>
              <c:f>Sheet1!$C$1</c:f>
              <c:strCache>
                <c:ptCount val="1"/>
                <c:pt idx="0">
                  <c:v>Validation accuracy</c:v>
                </c:pt>
              </c:strCache>
            </c:strRef>
          </c:tx>
          <c:spPr>
            <a:solidFill>
              <a:srgbClr val="16A34A"/>
            </a:solidFill>
            <a:ln w="31750" cap="flat">
              <a:solidFill>
                <a:srgbClr val="16A34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16A34A"/>
              </a:solidFill>
              <a:ln w="9525" cap="flat">
                <a:solidFill>
                  <a:srgbClr val="16A34A"/>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0.703</c:v>
                </c:pt>
                <c:pt idx="1">
                  <c:v>0.9994</c:v>
                </c:pt>
                <c:pt idx="2">
                  <c:v>0.9984</c:v>
                </c:pt>
                <c:pt idx="3">
                  <c:v>0.999</c:v>
                </c:pt>
                <c:pt idx="4">
                  <c:v>0.9998</c:v>
                </c:pt>
                <c:pt idx="5">
                  <c:v>1</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4748B"/>
                    </a:solidFill>
                    <a:latin typeface="+mn-lt"/>
                  </a:defRPr>
                </a:pPr>
                <a:r>
                  <a:rPr sz="1200" b="0" i="0" u="none" strike="noStrike">
                    <a:solidFill>
                      <a:srgbClr val="64748B"/>
                    </a:solidFill>
                    <a:latin typeface="+mn-lt"/>
                  </a:rPr>
                  <a:t>Epoch</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project detects deepfake videos by checking both the face and the voice, tests how robust the detector is to compression and noise, and explains every decision with heatmaps. Today: what is built, the first real trained model (the voice model), the demo, and what is still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Deepfakes can manipulate the face, the voice, or both. A face-only detector misses a real face with a cloned voice, and an audio-only detector misses a face swap with the original audio. Social platforms also re-compress videos, which is known to hurt detectors. So we need a multimodal, robust and explainable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One: detect fake faces and fake voices and combine them. Two: stay reliable under compression, blur, noise and missing audio or video. Three: explain each decision with heatmaps. Four: deliver a reproducible pipeline and a working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work. FaceForensics++ showed that compression hurts detectors, which motivates the robustness tests. Celeb-DF is our cross-dataset face test. ASVspoof 2019 is the standard voice anti-spoofing dataset and the one we trained on. FakeAVCeleb labels face and voice separately, so we can tell which modality a detector relies on. Grad-CAM gives the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Datasets. FakeAVCeleb is the main dataset but needs author approval, which is still pending, as is Celeb-DF. ASVspoof 2019 LA is free and is what we trained the voice model on: a balanced subset of 5,000 clips per split taken from the official partitions. Splits are leakage-free: the same person or voice never appears in both training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The video branch samples 16 frames, finds faces with YuNet and scores each crop with EfficientNet-B0. The voice branch converts the audio to a log-mel spectrogram and scores a 4-second window with ResNet-18. Fusion combines them: late fusion with max, noisy-OR or a weighted average, or an intermediate MLP with modality dropout so it still works when one input is missing. The voice branch is trained; the face branch is waiting for FakeAVCeleb.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Preprocessing is identical in training and in the demo. Training uses AdamW with a cosine schedule on a free Colab T4, freezes the pretrained backbone for the first epoch, and stops early on validation AUC. The test split is evaluated once with the best validation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voice result. On the 5,000 test clips from ASVspoof's evaluation partition, which mostly contains attacks never seen in training, the voice model reaches AUC 0.977 and an equal error rate of 6.2%. At the default threshold of 0.5 it accepts almost every real voice, with 19 false alarms out of 2,500, but misses 419 of 2,500 fakes. At the equal-error threshold accuracy rises to 93.8%. The ROC curve is computed from all 5,000 saved test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attack. Eight of the thirteen evaluation attacks are detected 94% of the time or more. Four attacks, A10, A12, A13 and A18, are ranked above real speech with AUC 0.985 or higher, yet only 64 to 80% cross the 0.5 threshold, so a calibrated threshold would catch many more. A17 is the hard case: only 1.2% detected, AUC 0.725. A16 and A19 reuse training algorithms A04 and A06, which explains their near-perfect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Epoch 1 trains only the new head with the backbone frozen, which is why validation AUC starts at 0.85. From epoch 2 the model separates the validation set almost perfectly, because the development partition shares its attack systems with training. Early stopping triggered after three epochs without improvement, and the epoch-3 checkpoint was kept. A validation set with held-out attacks would be a better guide; this is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This is the heatmap the demo produced for a synthetic voice made with macOS text-to-speech. The model flagged it as fake with 100% probability, and the red region shows which part of the spectrogram drove that decision. Heatmaps show where the model looked, not proof of manipulation. The same method works on face crops once the face model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Gradio app takes a video, an audio file or a microphone recording. It shows the verdict with a probability gauge and an adjustable threshold, the score of each branch, the input checks and the heatmap. The Model and training tab shows the data, settings and test results of the loaded model, and the Code tab shows the exact command that trained it.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Pending. Everything on this slide is implemented and covered by tests, but needs the FakeAVCeleb dataset, which requires the authors' approval. Once it arrives, the notebooks run the face model, the fusion comparison, the robustness study and the fine-tuning of the voice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All nine phases are implemented and tested. On real data, the voice branch and the demo are complete; the data pipeline, explainability and the report are partially complete; the face branch, fusion and robustness are waiting for data. The trained model and its results are published in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these are subset results; the voice model has only seen studio-quality speech; the default threshold misses several unseen attacks; and the validation set cannot separate checkpoints because it shares attacks with training. Next steps: FakeAVCeleb for the face and fusion models, a held-out-attack validation set with a calibrated threshold, stronger audio models such as AASIST, and tests on everyday recordings.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One: the full pipeline works end to end and is tested. Two: the first trained model, the voice model, reaches AUC 0.977 and EER 6.2% on mostly unseen attacks, with A17 as the hard case. Three: the core multimodal comparison needs FakeAVCeleb, which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references; the full list is in reports/report.md.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520440"/>
            <a:ext cx="960120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Robust Multimodal Deepfake Analysis</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E1B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371600"/>
          </a:xfrm>
          <a:prstGeom prst="rect">
            <a:avLst/>
          </a:prstGeom>
          <a:noFill/>
          <a:ln/>
        </p:spPr>
        <p:txBody>
          <a:bodyPr wrap="square" lIns="0" tIns="0" rIns="0" bIns="0" rtlCol="0" anchor="b"/>
          <a:lstStyle/>
          <a:p>
            <a:pPr algn="l" indent="0" marL="0">
              <a:buNone/>
            </a:pPr>
            <a:r>
              <a:rPr lang="en-US" sz="4800" b="1" dirty="0">
                <a:solidFill>
                  <a:schemeClr val="bg1"/>
                </a:solidFill>
              </a:rPr>
              <a:t>Robust Multimodal Deepfake Analysis</a:t>
            </a:r>
            <a:endParaRPr lang="en-US" sz="4800" dirty="0"/>
          </a:p>
        </p:txBody>
      </p:sp>
      <p:sp>
        <p:nvSpPr>
          <p:cNvPr id="3" name="Text 0"/>
          <p:cNvSpPr/>
          <p:nvPr>
            <p:ph idx="101" type="body" hasCustomPrompt="1"/>
          </p:nvPr>
        </p:nvSpPr>
        <p:spPr>
          <a:xfrm>
            <a:off x="548640" y="3520440"/>
            <a:ext cx="9601200" cy="822960"/>
          </a:xfrm>
          <a:prstGeom prst="rect">
            <a:avLst/>
          </a:prstGeom>
          <a:noFill/>
          <a:ln/>
        </p:spPr>
        <p:txBody>
          <a:bodyPr wrap="square" lIns="0" tIns="0" rIns="0" bIns="0" rtlCol="0" anchor="t"/>
          <a:lstStyle/>
          <a:p>
            <a:pPr indent="0" marL="0">
              <a:buNone/>
            </a:pPr>
            <a:r>
              <a:rPr lang="en-US" sz="2000" dirty="0">
                <a:solidFill>
                  <a:schemeClr val="bg2"/>
                </a:solidFill>
              </a:rPr>
              <a:t>Detecting fake faces and cloned voices, robust to real-world degradation and explained with Grad-CAM</a:t>
            </a:r>
            <a:endParaRPr lang="en-US" sz="2000" dirty="0"/>
          </a:p>
        </p:txBody>
      </p:sp>
      <p:sp>
        <p:nvSpPr>
          <p:cNvPr id="4" name="title Face model circle"/>
          <p:cNvSpPr/>
          <p:nvPr/>
        </p:nvSpPr>
        <p:spPr>
          <a:xfrm>
            <a:off x="548640" y="4800600"/>
            <a:ext cx="502920" cy="502920"/>
          </a:xfrm>
          <a:prstGeom prst="ellipse">
            <a:avLst/>
          </a:prstGeom>
          <a:solidFill>
            <a:schemeClr val="accent1"/>
          </a:solidFill>
          <a:ln/>
        </p:spPr>
      </p:sp>
      <p:pic>
        <p:nvPicPr>
          <p:cNvPr id="5" name="title Face model icon" descr="preencoded.png">    </p:cNvPr>
          <p:cNvPicPr>
            <a:picLocks noChangeAspect="1"/>
          </p:cNvPicPr>
          <p:nvPr/>
        </p:nvPicPr>
        <p:blipFill>
          <a:blip r:embed="rId1"/>
          <a:stretch>
            <a:fillRect/>
          </a:stretch>
        </p:blipFill>
        <p:spPr>
          <a:xfrm>
            <a:off x="679399" y="4931359"/>
            <a:ext cx="241402" cy="241402"/>
          </a:xfrm>
          <a:prstGeom prst="rect">
            <a:avLst/>
          </a:prstGeom>
        </p:spPr>
      </p:pic>
      <p:sp>
        <p:nvSpPr>
          <p:cNvPr id="6" name="Text 3"/>
          <p:cNvSpPr txBox="1"/>
          <p:nvPr/>
        </p:nvSpPr>
        <p:spPr>
          <a:xfrm>
            <a:off x="1188720" y="4800600"/>
            <a:ext cx="1371600" cy="502920"/>
          </a:xfrm>
          <a:prstGeom prst="rect">
            <a:avLst/>
          </a:prstGeom>
          <a:noFill/>
          <a:ln/>
        </p:spPr>
        <p:txBody>
          <a:bodyPr wrap="square" lIns="0" tIns="0" rIns="0" bIns="0" rtlCol="0" anchor="ctr"/>
          <a:lstStyle/>
          <a:p>
            <a:pPr indent="0" marL="0">
              <a:buNone/>
            </a:pPr>
            <a:r>
              <a:rPr lang="en-US" sz="1500" dirty="0">
                <a:solidFill>
                  <a:schemeClr val="bg1"/>
                </a:solidFill>
              </a:rPr>
              <a:t>Face model</a:t>
            </a:r>
            <a:endParaRPr lang="en-US" sz="1500" dirty="0"/>
          </a:p>
        </p:txBody>
      </p:sp>
      <p:sp>
        <p:nvSpPr>
          <p:cNvPr id="7" name="title Voice model circle"/>
          <p:cNvSpPr/>
          <p:nvPr/>
        </p:nvSpPr>
        <p:spPr>
          <a:xfrm>
            <a:off x="2697480" y="4800600"/>
            <a:ext cx="502920" cy="502920"/>
          </a:xfrm>
          <a:prstGeom prst="ellipse">
            <a:avLst/>
          </a:prstGeom>
          <a:solidFill>
            <a:schemeClr val="accent1"/>
          </a:solidFill>
          <a:ln/>
        </p:spPr>
      </p:sp>
      <p:pic>
        <p:nvPicPr>
          <p:cNvPr id="8" name="title Voice model icon" descr="preencoded.png">    </p:cNvPr>
          <p:cNvPicPr>
            <a:picLocks noChangeAspect="1"/>
          </p:cNvPicPr>
          <p:nvPr/>
        </p:nvPicPr>
        <p:blipFill>
          <a:blip r:embed="rId2"/>
          <a:stretch>
            <a:fillRect/>
          </a:stretch>
        </p:blipFill>
        <p:spPr>
          <a:xfrm>
            <a:off x="2828239" y="4931359"/>
            <a:ext cx="241402" cy="241402"/>
          </a:xfrm>
          <a:prstGeom prst="rect">
            <a:avLst/>
          </a:prstGeom>
        </p:spPr>
      </p:pic>
      <p:sp>
        <p:nvSpPr>
          <p:cNvPr id="9" name="Text 5"/>
          <p:cNvSpPr txBox="1"/>
          <p:nvPr/>
        </p:nvSpPr>
        <p:spPr>
          <a:xfrm>
            <a:off x="3337560" y="4800600"/>
            <a:ext cx="1371600" cy="502920"/>
          </a:xfrm>
          <a:prstGeom prst="rect">
            <a:avLst/>
          </a:prstGeom>
          <a:noFill/>
          <a:ln/>
        </p:spPr>
        <p:txBody>
          <a:bodyPr wrap="square" lIns="0" tIns="0" rIns="0" bIns="0" rtlCol="0" anchor="ctr"/>
          <a:lstStyle/>
          <a:p>
            <a:pPr indent="0" marL="0">
              <a:buNone/>
            </a:pPr>
            <a:r>
              <a:rPr lang="en-US" sz="1500" dirty="0">
                <a:solidFill>
                  <a:schemeClr val="bg1"/>
                </a:solidFill>
              </a:rPr>
              <a:t>Voice model</a:t>
            </a:r>
            <a:endParaRPr lang="en-US" sz="1500" dirty="0"/>
          </a:p>
        </p:txBody>
      </p:sp>
      <p:sp>
        <p:nvSpPr>
          <p:cNvPr id="10" name="title Fusion circle"/>
          <p:cNvSpPr/>
          <p:nvPr/>
        </p:nvSpPr>
        <p:spPr>
          <a:xfrm>
            <a:off x="4846320" y="4800600"/>
            <a:ext cx="502920" cy="502920"/>
          </a:xfrm>
          <a:prstGeom prst="ellipse">
            <a:avLst/>
          </a:prstGeom>
          <a:solidFill>
            <a:schemeClr val="accent1"/>
          </a:solidFill>
          <a:ln/>
        </p:spPr>
      </p:sp>
      <p:pic>
        <p:nvPicPr>
          <p:cNvPr id="11" name="title Fusion icon" descr="preencoded.png">    </p:cNvPr>
          <p:cNvPicPr>
            <a:picLocks noChangeAspect="1"/>
          </p:cNvPicPr>
          <p:nvPr/>
        </p:nvPicPr>
        <p:blipFill>
          <a:blip r:embed="rId3"/>
          <a:stretch>
            <a:fillRect/>
          </a:stretch>
        </p:blipFill>
        <p:spPr>
          <a:xfrm>
            <a:off x="4977079" y="4931359"/>
            <a:ext cx="241402" cy="241402"/>
          </a:xfrm>
          <a:prstGeom prst="rect">
            <a:avLst/>
          </a:prstGeom>
        </p:spPr>
      </p:pic>
      <p:sp>
        <p:nvSpPr>
          <p:cNvPr id="12" name="Text 7"/>
          <p:cNvSpPr txBox="1"/>
          <p:nvPr/>
        </p:nvSpPr>
        <p:spPr>
          <a:xfrm>
            <a:off x="5486400" y="4800600"/>
            <a:ext cx="1371600" cy="502920"/>
          </a:xfrm>
          <a:prstGeom prst="rect">
            <a:avLst/>
          </a:prstGeom>
          <a:noFill/>
          <a:ln/>
        </p:spPr>
        <p:txBody>
          <a:bodyPr wrap="square" lIns="0" tIns="0" rIns="0" bIns="0" rtlCol="0" anchor="ctr"/>
          <a:lstStyle/>
          <a:p>
            <a:pPr indent="0" marL="0">
              <a:buNone/>
            </a:pPr>
            <a:r>
              <a:rPr lang="en-US" sz="1500" dirty="0">
                <a:solidFill>
                  <a:schemeClr val="bg1"/>
                </a:solidFill>
              </a:rPr>
              <a:t>Fusion</a:t>
            </a:r>
            <a:endParaRPr lang="en-US" sz="1500" dirty="0"/>
          </a:p>
        </p:txBody>
      </p:sp>
      <p:sp>
        <p:nvSpPr>
          <p:cNvPr id="13" name="title Grad-CAM circle"/>
          <p:cNvSpPr/>
          <p:nvPr/>
        </p:nvSpPr>
        <p:spPr>
          <a:xfrm>
            <a:off x="6995160" y="4800600"/>
            <a:ext cx="502920" cy="502920"/>
          </a:xfrm>
          <a:prstGeom prst="ellipse">
            <a:avLst/>
          </a:prstGeom>
          <a:solidFill>
            <a:schemeClr val="accent1"/>
          </a:solidFill>
          <a:ln/>
        </p:spPr>
      </p:sp>
      <p:pic>
        <p:nvPicPr>
          <p:cNvPr id="14" name="title Grad-CAM icon" descr="preencoded.png">    </p:cNvPr>
          <p:cNvPicPr>
            <a:picLocks noChangeAspect="1"/>
          </p:cNvPicPr>
          <p:nvPr/>
        </p:nvPicPr>
        <p:blipFill>
          <a:blip r:embed="rId4"/>
          <a:stretch>
            <a:fillRect/>
          </a:stretch>
        </p:blipFill>
        <p:spPr>
          <a:xfrm>
            <a:off x="7125919" y="4931359"/>
            <a:ext cx="241402" cy="241402"/>
          </a:xfrm>
          <a:prstGeom prst="rect">
            <a:avLst/>
          </a:prstGeom>
        </p:spPr>
      </p:pic>
      <p:sp>
        <p:nvSpPr>
          <p:cNvPr id="15" name="Text 9"/>
          <p:cNvSpPr txBox="1"/>
          <p:nvPr/>
        </p:nvSpPr>
        <p:spPr>
          <a:xfrm>
            <a:off x="7635240" y="4800600"/>
            <a:ext cx="1371600" cy="502920"/>
          </a:xfrm>
          <a:prstGeom prst="rect">
            <a:avLst/>
          </a:prstGeom>
          <a:noFill/>
          <a:ln/>
        </p:spPr>
        <p:txBody>
          <a:bodyPr wrap="square" lIns="0" tIns="0" rIns="0" bIns="0" rtlCol="0" anchor="ctr"/>
          <a:lstStyle/>
          <a:p>
            <a:pPr indent="0" marL="0">
              <a:buNone/>
            </a:pPr>
            <a:r>
              <a:rPr lang="en-US" sz="1500" dirty="0">
                <a:solidFill>
                  <a:schemeClr val="bg1"/>
                </a:solidFill>
              </a:rPr>
              <a:t>Grad-CAM</a:t>
            </a:r>
            <a:endParaRPr lang="en-US" sz="1500" dirty="0"/>
          </a:p>
        </p:txBody>
      </p:sp>
      <p:sp>
        <p:nvSpPr>
          <p:cNvPr id="16" name="Text 10"/>
          <p:cNvSpPr txBox="1"/>
          <p:nvPr/>
        </p:nvSpPr>
        <p:spPr>
          <a:xfrm>
            <a:off x="548640" y="5897880"/>
            <a:ext cx="5486400" cy="365760"/>
          </a:xfrm>
          <a:prstGeom prst="rect">
            <a:avLst/>
          </a:prstGeom>
          <a:noFill/>
          <a:ln/>
        </p:spPr>
        <p:txBody>
          <a:bodyPr wrap="square" lIns="0" tIns="0" rIns="0" bIns="0" rtlCol="0" anchor="t"/>
          <a:lstStyle/>
          <a:p>
            <a:pPr indent="0" marL="0">
              <a:buNone/>
            </a:pPr>
            <a:r>
              <a:rPr lang="en-US" sz="1400" dirty="0">
                <a:solidFill>
                  <a:schemeClr val="bg2"/>
                </a:solidFill>
              </a:rPr>
              <a:t>Project review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Fakes can hit the face, the voice, or both</a:t>
            </a:r>
            <a:endParaRPr lang="en-US" sz="3200" dirty="0"/>
          </a:p>
        </p:txBody>
      </p:sp>
      <p:sp>
        <p:nvSpPr>
          <p:cNvPr id="3" name="problem card 1"/>
          <p:cNvSpPr/>
          <p:nvPr/>
        </p:nvSpPr>
        <p:spPr>
          <a:xfrm>
            <a:off x="548640" y="1417320"/>
            <a:ext cx="3566160" cy="3246120"/>
          </a:xfrm>
          <a:prstGeom prst="roundRect">
            <a:avLst>
              <a:gd name="adj" fmla="val 3380"/>
            </a:avLst>
          </a:prstGeom>
          <a:solidFill>
            <a:schemeClr val="bg2"/>
          </a:solidFill>
          <a:ln/>
        </p:spPr>
      </p:sp>
      <p:sp>
        <p:nvSpPr>
          <p:cNvPr id="4" name="problem Fake faces circle"/>
          <p:cNvSpPr/>
          <p:nvPr/>
        </p:nvSpPr>
        <p:spPr>
          <a:xfrm>
            <a:off x="868680" y="1691640"/>
            <a:ext cx="731520" cy="731520"/>
          </a:xfrm>
          <a:prstGeom prst="ellipse">
            <a:avLst/>
          </a:prstGeom>
          <a:solidFill>
            <a:schemeClr val="accent1"/>
          </a:solidFill>
          <a:ln/>
        </p:spPr>
      </p:sp>
      <p:pic>
        <p:nvPicPr>
          <p:cNvPr id="5" name="problem Fake faces icon" descr="preencoded.png">    </p:cNvPr>
          <p:cNvPicPr>
            <a:picLocks noChangeAspect="1"/>
          </p:cNvPicPr>
          <p:nvPr/>
        </p:nvPicPr>
        <p:blipFill>
          <a:blip r:embed="rId1"/>
          <a:stretch>
            <a:fillRect/>
          </a:stretch>
        </p:blipFill>
        <p:spPr>
          <a:xfrm>
            <a:off x="1058875" y="1881835"/>
            <a:ext cx="351130" cy="351130"/>
          </a:xfrm>
          <a:prstGeom prst="rect">
            <a:avLst/>
          </a:prstGeom>
        </p:spPr>
      </p:pic>
      <p:sp>
        <p:nvSpPr>
          <p:cNvPr id="6" name="Text 3"/>
          <p:cNvSpPr txBox="1"/>
          <p:nvPr/>
        </p:nvSpPr>
        <p:spPr>
          <a:xfrm>
            <a:off x="868680" y="26517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Fake faces</a:t>
            </a:r>
            <a:endParaRPr lang="en-US" sz="2100" dirty="0"/>
          </a:p>
        </p:txBody>
      </p:sp>
      <p:sp>
        <p:nvSpPr>
          <p:cNvPr id="7" name="Text 4"/>
          <p:cNvSpPr txBox="1"/>
          <p:nvPr/>
        </p:nvSpPr>
        <p:spPr>
          <a:xfrm>
            <a:off x="868680" y="3154680"/>
            <a:ext cx="2926080" cy="1371600"/>
          </a:xfrm>
          <a:prstGeom prst="rect">
            <a:avLst/>
          </a:prstGeom>
          <a:noFill/>
          <a:ln/>
        </p:spPr>
        <p:txBody>
          <a:bodyPr wrap="square" lIns="0" tIns="0" rIns="0" bIns="0" rtlCol="0" anchor="t"/>
          <a:lstStyle/>
          <a:p>
            <a:pPr indent="0" marL="0">
              <a:buNone/>
            </a:pPr>
            <a:r>
              <a:rPr lang="en-US" sz="1500" dirty="0">
                <a:solidFill>
                  <a:schemeClr val="tx1"/>
                </a:solidFill>
              </a:rPr>
              <a:t>Face swap, face reenactment and lip-sync models produce realistic manipulated faces.</a:t>
            </a:r>
            <a:endParaRPr lang="en-US" sz="1500" dirty="0"/>
          </a:p>
        </p:txBody>
      </p:sp>
      <p:sp>
        <p:nvSpPr>
          <p:cNvPr id="8" name="problem card 2"/>
          <p:cNvSpPr/>
          <p:nvPr/>
        </p:nvSpPr>
        <p:spPr>
          <a:xfrm>
            <a:off x="4297680" y="1417320"/>
            <a:ext cx="3566160" cy="3246120"/>
          </a:xfrm>
          <a:prstGeom prst="roundRect">
            <a:avLst>
              <a:gd name="adj" fmla="val 3380"/>
            </a:avLst>
          </a:prstGeom>
          <a:solidFill>
            <a:schemeClr val="bg2"/>
          </a:solidFill>
          <a:ln/>
        </p:spPr>
      </p:sp>
      <p:sp>
        <p:nvSpPr>
          <p:cNvPr id="9" name="problem Cloned voices circle"/>
          <p:cNvSpPr/>
          <p:nvPr/>
        </p:nvSpPr>
        <p:spPr>
          <a:xfrm>
            <a:off x="4617720" y="1691640"/>
            <a:ext cx="731520" cy="731520"/>
          </a:xfrm>
          <a:prstGeom prst="ellipse">
            <a:avLst/>
          </a:prstGeom>
          <a:solidFill>
            <a:schemeClr val="accent1"/>
          </a:solidFill>
          <a:ln/>
        </p:spPr>
      </p:sp>
      <p:pic>
        <p:nvPicPr>
          <p:cNvPr id="10" name="problem Cloned voices icon" descr="preencoded.png">    </p:cNvPr>
          <p:cNvPicPr>
            <a:picLocks noChangeAspect="1"/>
          </p:cNvPicPr>
          <p:nvPr/>
        </p:nvPicPr>
        <p:blipFill>
          <a:blip r:embed="rId2"/>
          <a:stretch>
            <a:fillRect/>
          </a:stretch>
        </p:blipFill>
        <p:spPr>
          <a:xfrm>
            <a:off x="4807915" y="1881835"/>
            <a:ext cx="351130" cy="351130"/>
          </a:xfrm>
          <a:prstGeom prst="rect">
            <a:avLst/>
          </a:prstGeom>
        </p:spPr>
      </p:pic>
      <p:sp>
        <p:nvSpPr>
          <p:cNvPr id="11" name="Text 7"/>
          <p:cNvSpPr txBox="1"/>
          <p:nvPr/>
        </p:nvSpPr>
        <p:spPr>
          <a:xfrm>
            <a:off x="4617720" y="26517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Cloned voices</a:t>
            </a:r>
            <a:endParaRPr lang="en-US" sz="2100" dirty="0"/>
          </a:p>
        </p:txBody>
      </p:sp>
      <p:sp>
        <p:nvSpPr>
          <p:cNvPr id="12" name="Text 8"/>
          <p:cNvSpPr txBox="1"/>
          <p:nvPr/>
        </p:nvSpPr>
        <p:spPr>
          <a:xfrm>
            <a:off x="4617720" y="3154680"/>
            <a:ext cx="2926080" cy="1371600"/>
          </a:xfrm>
          <a:prstGeom prst="rect">
            <a:avLst/>
          </a:prstGeom>
          <a:noFill/>
          <a:ln/>
        </p:spPr>
        <p:txBody>
          <a:bodyPr wrap="square" lIns="0" tIns="0" rIns="0" bIns="0" rtlCol="0" anchor="t"/>
          <a:lstStyle/>
          <a:p>
            <a:pPr indent="0" marL="0">
              <a:buNone/>
            </a:pPr>
            <a:r>
              <a:rPr lang="en-US" sz="1500" dirty="0">
                <a:solidFill>
                  <a:schemeClr val="tx1"/>
                </a:solidFill>
              </a:rPr>
              <a:t>Text-to-speech and voice conversion imitate a real speaker's voice convincingly.</a:t>
            </a:r>
            <a:endParaRPr lang="en-US" sz="1500" dirty="0"/>
          </a:p>
        </p:txBody>
      </p:sp>
      <p:sp>
        <p:nvSpPr>
          <p:cNvPr id="13" name="problem card 3"/>
          <p:cNvSpPr/>
          <p:nvPr/>
        </p:nvSpPr>
        <p:spPr>
          <a:xfrm>
            <a:off x="8046720" y="1417320"/>
            <a:ext cx="3566160" cy="3246120"/>
          </a:xfrm>
          <a:prstGeom prst="roundRect">
            <a:avLst>
              <a:gd name="adj" fmla="val 3380"/>
            </a:avLst>
          </a:prstGeom>
          <a:solidFill>
            <a:schemeClr val="bg2"/>
          </a:solidFill>
          <a:ln/>
        </p:spPr>
      </p:sp>
      <p:sp>
        <p:nvSpPr>
          <p:cNvPr id="14" name="problem Real-world damage circle"/>
          <p:cNvSpPr/>
          <p:nvPr/>
        </p:nvSpPr>
        <p:spPr>
          <a:xfrm>
            <a:off x="8366760" y="1691640"/>
            <a:ext cx="731520" cy="731520"/>
          </a:xfrm>
          <a:prstGeom prst="ellipse">
            <a:avLst/>
          </a:prstGeom>
          <a:solidFill>
            <a:schemeClr val="accent1"/>
          </a:solidFill>
          <a:ln/>
        </p:spPr>
      </p:sp>
      <p:pic>
        <p:nvPicPr>
          <p:cNvPr id="15" name="problem Real-world damage icon" descr="preencoded.png">    </p:cNvPr>
          <p:cNvPicPr>
            <a:picLocks noChangeAspect="1"/>
          </p:cNvPicPr>
          <p:nvPr/>
        </p:nvPicPr>
        <p:blipFill>
          <a:blip r:embed="rId3"/>
          <a:stretch>
            <a:fillRect/>
          </a:stretch>
        </p:blipFill>
        <p:spPr>
          <a:xfrm>
            <a:off x="8556955" y="1881835"/>
            <a:ext cx="351130" cy="351130"/>
          </a:xfrm>
          <a:prstGeom prst="rect">
            <a:avLst/>
          </a:prstGeom>
        </p:spPr>
      </p:pic>
      <p:sp>
        <p:nvSpPr>
          <p:cNvPr id="16" name="Text 11"/>
          <p:cNvSpPr txBox="1"/>
          <p:nvPr/>
        </p:nvSpPr>
        <p:spPr>
          <a:xfrm>
            <a:off x="8366760" y="2651760"/>
            <a:ext cx="2926080" cy="457200"/>
          </a:xfrm>
          <a:prstGeom prst="rect">
            <a:avLst/>
          </a:prstGeom>
          <a:noFill/>
          <a:ln/>
        </p:spPr>
        <p:txBody>
          <a:bodyPr wrap="square" lIns="0" tIns="0" rIns="0" bIns="0" rtlCol="0" anchor="t"/>
          <a:lstStyle/>
          <a:p>
            <a:pPr indent="0" marL="0">
              <a:buNone/>
            </a:pPr>
            <a:r>
              <a:rPr lang="en-US" sz="2100" b="1" dirty="0">
                <a:solidFill>
                  <a:schemeClr val="tx1"/>
                </a:solidFill>
              </a:rPr>
              <a:t>Real-world damage</a:t>
            </a:r>
            <a:endParaRPr lang="en-US" sz="2100" dirty="0"/>
          </a:p>
        </p:txBody>
      </p:sp>
      <p:sp>
        <p:nvSpPr>
          <p:cNvPr id="17" name="Text 12"/>
          <p:cNvSpPr txBox="1"/>
          <p:nvPr/>
        </p:nvSpPr>
        <p:spPr>
          <a:xfrm>
            <a:off x="8366760" y="3154680"/>
            <a:ext cx="2926080" cy="1371600"/>
          </a:xfrm>
          <a:prstGeom prst="rect">
            <a:avLst/>
          </a:prstGeom>
          <a:noFill/>
          <a:ln/>
        </p:spPr>
        <p:txBody>
          <a:bodyPr wrap="square" lIns="0" tIns="0" rIns="0" bIns="0" rtlCol="0" anchor="t"/>
          <a:lstStyle/>
          <a:p>
            <a:pPr indent="0" marL="0">
              <a:buNone/>
            </a:pPr>
            <a:r>
              <a:rPr lang="en-US" sz="1500" dirty="0">
                <a:solidFill>
                  <a:schemeClr val="tx1"/>
                </a:solidFill>
              </a:rPr>
              <a:t>Compression, noise and missing audio tracks break detectors that check only one channel.</a:t>
            </a:r>
            <a:endParaRPr lang="en-US" sz="1500" dirty="0"/>
          </a:p>
        </p:txBody>
      </p:sp>
      <p:sp>
        <p:nvSpPr>
          <p:cNvPr id="18" name="Text 13"/>
          <p:cNvSpPr txBox="1"/>
          <p:nvPr/>
        </p:nvSpPr>
        <p:spPr>
          <a:xfrm>
            <a:off x="548640" y="5029200"/>
            <a:ext cx="11094415" cy="822960"/>
          </a:xfrm>
          <a:prstGeom prst="rect">
            <a:avLst/>
          </a:prstGeom>
          <a:noFill/>
          <a:ln/>
        </p:spPr>
        <p:txBody>
          <a:bodyPr wrap="square" lIns="0" tIns="0" rIns="0" bIns="0" rtlCol="0" anchor="t"/>
          <a:lstStyle/>
          <a:p>
            <a:pPr indent="0" marL="0">
              <a:buNone/>
            </a:pPr>
            <a:r>
              <a:rPr lang="en-US" sz="1800" i="1" dirty="0">
                <a:solidFill>
                  <a:schemeClr val="accent1"/>
                </a:solidFill>
              </a:rPr>
              <a:t>A practical detector must answer “is this video fake?” even when only one channel was manipulated, and show evidence a person can check.</a:t>
            </a:r>
            <a:endParaRPr lang="en-US" sz="18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Four objectives</a:t>
            </a:r>
            <a:endParaRPr lang="en-US" sz="3200" dirty="0"/>
          </a:p>
        </p:txBody>
      </p:sp>
      <p:sp>
        <p:nvSpPr>
          <p:cNvPr id="3" name="objective card 1"/>
          <p:cNvSpPr/>
          <p:nvPr/>
        </p:nvSpPr>
        <p:spPr>
          <a:xfrm>
            <a:off x="548640" y="1463040"/>
            <a:ext cx="5394960" cy="1965960"/>
          </a:xfrm>
          <a:prstGeom prst="roundRect">
            <a:avLst>
              <a:gd name="adj" fmla="val 5581"/>
            </a:avLst>
          </a:prstGeom>
          <a:solidFill>
            <a:schemeClr val="bg2"/>
          </a:solidFill>
          <a:ln/>
        </p:spPr>
      </p:sp>
      <p:sp>
        <p:nvSpPr>
          <p:cNvPr id="4" name="objective Detect and combine circle"/>
          <p:cNvSpPr/>
          <p:nvPr/>
        </p:nvSpPr>
        <p:spPr>
          <a:xfrm>
            <a:off x="868680" y="1828800"/>
            <a:ext cx="777240" cy="777240"/>
          </a:xfrm>
          <a:prstGeom prst="ellipse">
            <a:avLst/>
          </a:prstGeom>
          <a:solidFill>
            <a:schemeClr val="accent1"/>
          </a:solidFill>
          <a:ln/>
        </p:spPr>
      </p:sp>
      <p:pic>
        <p:nvPicPr>
          <p:cNvPr id="5" name="objective Detect and combine icon" descr="preencoded.png">    </p:cNvPr>
          <p:cNvPicPr>
            <a:picLocks noChangeAspect="1"/>
          </p:cNvPicPr>
          <p:nvPr/>
        </p:nvPicPr>
        <p:blipFill>
          <a:blip r:embed="rId1"/>
          <a:stretch>
            <a:fillRect/>
          </a:stretch>
        </p:blipFill>
        <p:spPr>
          <a:xfrm>
            <a:off x="1070762" y="2030882"/>
            <a:ext cx="373075" cy="373075"/>
          </a:xfrm>
          <a:prstGeom prst="rect">
            <a:avLst/>
          </a:prstGeom>
        </p:spPr>
      </p:pic>
      <p:sp>
        <p:nvSpPr>
          <p:cNvPr id="6" name="Text 3"/>
          <p:cNvSpPr txBox="1"/>
          <p:nvPr/>
        </p:nvSpPr>
        <p:spPr>
          <a:xfrm>
            <a:off x="1920240" y="1810512"/>
            <a:ext cx="3749040" cy="457200"/>
          </a:xfrm>
          <a:prstGeom prst="rect">
            <a:avLst/>
          </a:prstGeom>
          <a:noFill/>
          <a:ln/>
        </p:spPr>
        <p:txBody>
          <a:bodyPr wrap="square" lIns="0" tIns="0" rIns="0" bIns="0" rtlCol="0" anchor="t"/>
          <a:lstStyle/>
          <a:p>
            <a:pPr indent="0" marL="0">
              <a:buNone/>
            </a:pPr>
            <a:r>
              <a:rPr lang="en-US" sz="2100" b="1" dirty="0">
                <a:solidFill>
                  <a:schemeClr val="tx1"/>
                </a:solidFill>
              </a:rPr>
              <a:t>Detect and combine</a:t>
            </a:r>
            <a:endParaRPr lang="en-US" sz="2100" dirty="0"/>
          </a:p>
        </p:txBody>
      </p:sp>
      <p:sp>
        <p:nvSpPr>
          <p:cNvPr id="7" name="Text 4"/>
          <p:cNvSpPr txBox="1"/>
          <p:nvPr/>
        </p:nvSpPr>
        <p:spPr>
          <a:xfrm>
            <a:off x="1920240" y="2304288"/>
            <a:ext cx="3749040" cy="1005840"/>
          </a:xfrm>
          <a:prstGeom prst="rect">
            <a:avLst/>
          </a:prstGeom>
          <a:noFill/>
          <a:ln/>
        </p:spPr>
        <p:txBody>
          <a:bodyPr wrap="square" lIns="0" tIns="0" rIns="0" bIns="0" rtlCol="0" anchor="t"/>
          <a:lstStyle/>
          <a:p>
            <a:pPr indent="0" marL="0">
              <a:buNone/>
            </a:pPr>
            <a:r>
              <a:rPr lang="en-US" sz="1500" dirty="0">
                <a:solidFill>
                  <a:schemeClr val="tx1"/>
                </a:solidFill>
              </a:rPr>
              <a:t>Score the face and the voice separately, then fuse them into one decision: fake if either is fake.</a:t>
            </a:r>
            <a:endParaRPr lang="en-US" sz="1500" dirty="0"/>
          </a:p>
        </p:txBody>
      </p:sp>
      <p:sp>
        <p:nvSpPr>
          <p:cNvPr id="8" name="objective card 2"/>
          <p:cNvSpPr/>
          <p:nvPr/>
        </p:nvSpPr>
        <p:spPr>
          <a:xfrm>
            <a:off x="6217920" y="1463040"/>
            <a:ext cx="5394960" cy="1965960"/>
          </a:xfrm>
          <a:prstGeom prst="roundRect">
            <a:avLst>
              <a:gd name="adj" fmla="val 5581"/>
            </a:avLst>
          </a:prstGeom>
          <a:solidFill>
            <a:schemeClr val="bg2"/>
          </a:solidFill>
          <a:ln/>
        </p:spPr>
      </p:sp>
      <p:sp>
        <p:nvSpPr>
          <p:cNvPr id="9" name="objective Stay robust circle"/>
          <p:cNvSpPr/>
          <p:nvPr/>
        </p:nvSpPr>
        <p:spPr>
          <a:xfrm>
            <a:off x="6537960" y="1828800"/>
            <a:ext cx="777240" cy="777240"/>
          </a:xfrm>
          <a:prstGeom prst="ellipse">
            <a:avLst/>
          </a:prstGeom>
          <a:solidFill>
            <a:schemeClr val="accent1"/>
          </a:solidFill>
          <a:ln/>
        </p:spPr>
      </p:sp>
      <p:pic>
        <p:nvPicPr>
          <p:cNvPr id="10" name="objective Stay robust icon" descr="preencoded.png">    </p:cNvPr>
          <p:cNvPicPr>
            <a:picLocks noChangeAspect="1"/>
          </p:cNvPicPr>
          <p:nvPr/>
        </p:nvPicPr>
        <p:blipFill>
          <a:blip r:embed="rId2"/>
          <a:stretch>
            <a:fillRect/>
          </a:stretch>
        </p:blipFill>
        <p:spPr>
          <a:xfrm>
            <a:off x="6740042" y="2030882"/>
            <a:ext cx="373075" cy="373075"/>
          </a:xfrm>
          <a:prstGeom prst="rect">
            <a:avLst/>
          </a:prstGeom>
        </p:spPr>
      </p:pic>
      <p:sp>
        <p:nvSpPr>
          <p:cNvPr id="11" name="Text 7"/>
          <p:cNvSpPr txBox="1"/>
          <p:nvPr/>
        </p:nvSpPr>
        <p:spPr>
          <a:xfrm>
            <a:off x="7589520" y="1810512"/>
            <a:ext cx="3749040" cy="457200"/>
          </a:xfrm>
          <a:prstGeom prst="rect">
            <a:avLst/>
          </a:prstGeom>
          <a:noFill/>
          <a:ln/>
        </p:spPr>
        <p:txBody>
          <a:bodyPr wrap="square" lIns="0" tIns="0" rIns="0" bIns="0" rtlCol="0" anchor="t"/>
          <a:lstStyle/>
          <a:p>
            <a:pPr indent="0" marL="0">
              <a:buNone/>
            </a:pPr>
            <a:r>
              <a:rPr lang="en-US" sz="2100" b="1" dirty="0">
                <a:solidFill>
                  <a:schemeClr val="tx1"/>
                </a:solidFill>
              </a:rPr>
              <a:t>Stay robust</a:t>
            </a:r>
            <a:endParaRPr lang="en-US" sz="2100" dirty="0"/>
          </a:p>
        </p:txBody>
      </p:sp>
      <p:sp>
        <p:nvSpPr>
          <p:cNvPr id="12" name="Text 8"/>
          <p:cNvSpPr txBox="1"/>
          <p:nvPr/>
        </p:nvSpPr>
        <p:spPr>
          <a:xfrm>
            <a:off x="7589520" y="2304288"/>
            <a:ext cx="3749040" cy="1005840"/>
          </a:xfrm>
          <a:prstGeom prst="rect">
            <a:avLst/>
          </a:prstGeom>
          <a:noFill/>
          <a:ln/>
        </p:spPr>
        <p:txBody>
          <a:bodyPr wrap="square" lIns="0" tIns="0" rIns="0" bIns="0" rtlCol="0" anchor="t"/>
          <a:lstStyle/>
          <a:p>
            <a:pPr indent="0" marL="0">
              <a:buNone/>
            </a:pPr>
            <a:r>
              <a:rPr lang="en-US" sz="1500" dirty="0">
                <a:solidFill>
                  <a:schemeClr val="tx1"/>
                </a:solidFill>
              </a:rPr>
              <a:t>Measure and improve accuracy under 7 degradations × 3 severities and missing modalities.</a:t>
            </a:r>
            <a:endParaRPr lang="en-US" sz="1500" dirty="0"/>
          </a:p>
        </p:txBody>
      </p:sp>
      <p:sp>
        <p:nvSpPr>
          <p:cNvPr id="13" name="objective card 3"/>
          <p:cNvSpPr/>
          <p:nvPr/>
        </p:nvSpPr>
        <p:spPr>
          <a:xfrm>
            <a:off x="548640" y="3703320"/>
            <a:ext cx="5394960" cy="1965960"/>
          </a:xfrm>
          <a:prstGeom prst="roundRect">
            <a:avLst>
              <a:gd name="adj" fmla="val 5581"/>
            </a:avLst>
          </a:prstGeom>
          <a:solidFill>
            <a:schemeClr val="bg2"/>
          </a:solidFill>
          <a:ln/>
        </p:spPr>
      </p:sp>
      <p:sp>
        <p:nvSpPr>
          <p:cNvPr id="14" name="objective Explain decisions circle"/>
          <p:cNvSpPr/>
          <p:nvPr/>
        </p:nvSpPr>
        <p:spPr>
          <a:xfrm>
            <a:off x="868680" y="4069080"/>
            <a:ext cx="777240" cy="777240"/>
          </a:xfrm>
          <a:prstGeom prst="ellipse">
            <a:avLst/>
          </a:prstGeom>
          <a:solidFill>
            <a:schemeClr val="accent1"/>
          </a:solidFill>
          <a:ln/>
        </p:spPr>
      </p:sp>
      <p:pic>
        <p:nvPicPr>
          <p:cNvPr id="15" name="objective Explain decisions icon" descr="preencoded.png">    </p:cNvPr>
          <p:cNvPicPr>
            <a:picLocks noChangeAspect="1"/>
          </p:cNvPicPr>
          <p:nvPr/>
        </p:nvPicPr>
        <p:blipFill>
          <a:blip r:embed="rId3"/>
          <a:stretch>
            <a:fillRect/>
          </a:stretch>
        </p:blipFill>
        <p:spPr>
          <a:xfrm>
            <a:off x="1070762" y="4271162"/>
            <a:ext cx="373075" cy="373075"/>
          </a:xfrm>
          <a:prstGeom prst="rect">
            <a:avLst/>
          </a:prstGeom>
        </p:spPr>
      </p:pic>
      <p:sp>
        <p:nvSpPr>
          <p:cNvPr id="16" name="Text 11"/>
          <p:cNvSpPr txBox="1"/>
          <p:nvPr/>
        </p:nvSpPr>
        <p:spPr>
          <a:xfrm>
            <a:off x="1920240" y="4050792"/>
            <a:ext cx="3749040" cy="457200"/>
          </a:xfrm>
          <a:prstGeom prst="rect">
            <a:avLst/>
          </a:prstGeom>
          <a:noFill/>
          <a:ln/>
        </p:spPr>
        <p:txBody>
          <a:bodyPr wrap="square" lIns="0" tIns="0" rIns="0" bIns="0" rtlCol="0" anchor="t"/>
          <a:lstStyle/>
          <a:p>
            <a:pPr indent="0" marL="0">
              <a:buNone/>
            </a:pPr>
            <a:r>
              <a:rPr lang="en-US" sz="2100" b="1" dirty="0">
                <a:solidFill>
                  <a:schemeClr val="tx1"/>
                </a:solidFill>
              </a:rPr>
              <a:t>Explain decisions</a:t>
            </a:r>
            <a:endParaRPr lang="en-US" sz="2100" dirty="0"/>
          </a:p>
        </p:txBody>
      </p:sp>
      <p:sp>
        <p:nvSpPr>
          <p:cNvPr id="17" name="Text 12"/>
          <p:cNvSpPr txBox="1"/>
          <p:nvPr/>
        </p:nvSpPr>
        <p:spPr>
          <a:xfrm>
            <a:off x="1920240" y="4544568"/>
            <a:ext cx="3749040" cy="1005840"/>
          </a:xfrm>
          <a:prstGeom prst="rect">
            <a:avLst/>
          </a:prstGeom>
          <a:noFill/>
          <a:ln/>
        </p:spPr>
        <p:txBody>
          <a:bodyPr wrap="square" lIns="0" tIns="0" rIns="0" bIns="0" rtlCol="0" anchor="t"/>
          <a:lstStyle/>
          <a:p>
            <a:pPr indent="0" marL="0">
              <a:buNone/>
            </a:pPr>
            <a:r>
              <a:rPr lang="en-US" sz="1500" dirty="0">
                <a:solidFill>
                  <a:schemeClr val="tx1"/>
                </a:solidFill>
              </a:rPr>
              <a:t>Grad-CAM heatmaps on face crops and on the voice spectrogram.</a:t>
            </a:r>
            <a:endParaRPr lang="en-US" sz="1500" dirty="0"/>
          </a:p>
        </p:txBody>
      </p:sp>
      <p:sp>
        <p:nvSpPr>
          <p:cNvPr id="18" name="objective card 4"/>
          <p:cNvSpPr/>
          <p:nvPr/>
        </p:nvSpPr>
        <p:spPr>
          <a:xfrm>
            <a:off x="6217920" y="3703320"/>
            <a:ext cx="5394960" cy="1965960"/>
          </a:xfrm>
          <a:prstGeom prst="roundRect">
            <a:avLst>
              <a:gd name="adj" fmla="val 5581"/>
            </a:avLst>
          </a:prstGeom>
          <a:solidFill>
            <a:schemeClr val="bg2"/>
          </a:solidFill>
          <a:ln/>
        </p:spPr>
      </p:sp>
      <p:sp>
        <p:nvSpPr>
          <p:cNvPr id="19" name="objective Reproducible, with a demo circle"/>
          <p:cNvSpPr/>
          <p:nvPr/>
        </p:nvSpPr>
        <p:spPr>
          <a:xfrm>
            <a:off x="6537960" y="4069080"/>
            <a:ext cx="777240" cy="777240"/>
          </a:xfrm>
          <a:prstGeom prst="ellipse">
            <a:avLst/>
          </a:prstGeom>
          <a:solidFill>
            <a:schemeClr val="accent1"/>
          </a:solidFill>
          <a:ln/>
        </p:spPr>
      </p:sp>
      <p:pic>
        <p:nvPicPr>
          <p:cNvPr id="20" name="objective Reproducible, with a demo icon" descr="preencoded.png">    </p:cNvPr>
          <p:cNvPicPr>
            <a:picLocks noChangeAspect="1"/>
          </p:cNvPicPr>
          <p:nvPr/>
        </p:nvPicPr>
        <p:blipFill>
          <a:blip r:embed="rId4"/>
          <a:stretch>
            <a:fillRect/>
          </a:stretch>
        </p:blipFill>
        <p:spPr>
          <a:xfrm>
            <a:off x="6740042" y="4271162"/>
            <a:ext cx="373075" cy="373075"/>
          </a:xfrm>
          <a:prstGeom prst="rect">
            <a:avLst/>
          </a:prstGeom>
        </p:spPr>
      </p:pic>
      <p:sp>
        <p:nvSpPr>
          <p:cNvPr id="21" name="Text 15"/>
          <p:cNvSpPr txBox="1"/>
          <p:nvPr/>
        </p:nvSpPr>
        <p:spPr>
          <a:xfrm>
            <a:off x="7589520" y="4050792"/>
            <a:ext cx="3749040" cy="457200"/>
          </a:xfrm>
          <a:prstGeom prst="rect">
            <a:avLst/>
          </a:prstGeom>
          <a:noFill/>
          <a:ln/>
        </p:spPr>
        <p:txBody>
          <a:bodyPr wrap="square" lIns="0" tIns="0" rIns="0" bIns="0" rtlCol="0" anchor="t"/>
          <a:lstStyle/>
          <a:p>
            <a:pPr indent="0" marL="0">
              <a:buNone/>
            </a:pPr>
            <a:r>
              <a:rPr lang="en-US" sz="2100" b="1" dirty="0">
                <a:solidFill>
                  <a:schemeClr val="tx1"/>
                </a:solidFill>
              </a:rPr>
              <a:t>Reproducible, with a demo</a:t>
            </a:r>
            <a:endParaRPr lang="en-US" sz="2100" dirty="0"/>
          </a:p>
        </p:txBody>
      </p:sp>
      <p:sp>
        <p:nvSpPr>
          <p:cNvPr id="22" name="Text 16"/>
          <p:cNvSpPr txBox="1"/>
          <p:nvPr/>
        </p:nvSpPr>
        <p:spPr>
          <a:xfrm>
            <a:off x="7589520" y="4544568"/>
            <a:ext cx="3749040" cy="1005840"/>
          </a:xfrm>
          <a:prstGeom prst="rect">
            <a:avLst/>
          </a:prstGeom>
          <a:noFill/>
          <a:ln/>
        </p:spPr>
        <p:txBody>
          <a:bodyPr wrap="square" lIns="0" tIns="0" rIns="0" bIns="0" rtlCol="0" anchor="t"/>
          <a:lstStyle/>
          <a:p>
            <a:pPr indent="0" marL="0">
              <a:buNone/>
            </a:pPr>
            <a:r>
              <a:rPr lang="en-US" sz="1500" dirty="0">
                <a:solidFill>
                  <a:schemeClr val="tx1"/>
                </a:solidFill>
              </a:rPr>
              <a:t>Tested pipeline, Colab notebooks for training, and an interactive Gradio app.</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Related work and the gaps we address</a:t>
            </a:r>
            <a:endParaRPr lang="en-US" sz="3200" dirty="0"/>
          </a:p>
        </p:txBody>
      </p:sp>
      <p:graphicFrame>
        <p:nvGraphicFramePr>
          <p:cNvPr id="5" name="literatur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200400"/>
                <a:gridCol w="4343400"/>
                <a:gridCol w="3547872"/>
              </a:tblGrid>
              <a:tr h="640080">
                <a:tc>
                  <a:txBody>
                    <a:bodyPr/>
                    <a:lstStyle/>
                    <a:p>
                      <a:pPr indent="0" marL="0">
                        <a:buNone/>
                      </a:pPr>
                      <a:r>
                        <a:rPr lang="en-US" sz="1400" b="1" dirty="0">
                          <a:solidFill>
                            <a:schemeClr val="bg1"/>
                          </a:solidFill>
                        </a:rPr>
                        <a:t>Work</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Contribution</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Gap this project addresses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1"/>
                          </a:solidFill>
                        </a:rPr>
                        <a:t>FaceForensics++ (Rössler et al., 2019)</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Benchmark of 4 face manipulations at several compression levels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Accuracy drops on compressed video → robustness tests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Celeb-DF (Li et al., 2020)</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High-quality face swaps for cross-dataset evaluation</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Generalisation → cross-dataset test of the face model</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ASVspoof 2019 LA (Wang et al., 2020)</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Spoofed speech from many TTS / voice-conversion systems; unseen attacks in evaluation</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Audio only → combined with the face</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AASIST (Jung et al., 2022)</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Graph-attention anti-spoofing countermeasure</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Stronger audio model → future work</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1"/>
                          </a:solidFill>
                        </a:rPr>
                        <a:t>FakeAVCeleb (Khalid et al., 2021)</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Audio-visual fakes with separate face and voice labels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which modality a detector relies on</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1"/>
                          </a:solidFill>
                        </a:rPr>
                        <a:t>Grad-CAM (Selvaraju et al., 2017)</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Class-discriminative heatmaps from CNN gradients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Evidence for both branches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Datasets and leakage-free splits</a:t>
            </a:r>
            <a:endParaRPr lang="en-US" sz="3200" dirty="0"/>
          </a:p>
        </p:txBody>
      </p:sp>
      <p:graphicFrame>
        <p:nvGraphicFramePr>
          <p:cNvPr id="6" name="dataset table"/>
          <p:cNvGraphicFramePr>
            <a:graphicFrameLocks noGrp="1"/>
          </p:cNvGraphicFramePr>
          <p:nvPr>
            <p:extLst>
              <p:ext uri="{D42A27DB-BD31-4B8C-83A1-F6EECF244321}">
                <p14:modId xmlns:p14="http://schemas.microsoft.com/office/powerpoint/2010/main" val="1579011935"/>
              </p:ext>
            </p:extLst>
          </p:nvPr>
        </p:nvGraphicFramePr>
        <p:xfrm>
          <a:off x="548640" y="1417320"/>
          <a:ext cx="5760720" cy="914400"/>
        </p:xfrm>
        <a:graphic>
          <a:graphicData uri="http://schemas.openxmlformats.org/drawingml/2006/table">
            <a:tbl>
              <a:tblPr/>
              <a:tblGrid>
                <a:gridCol w="1920240"/>
                <a:gridCol w="2468880"/>
                <a:gridCol w="1371600"/>
              </a:tblGrid>
              <a:tr h="566928">
                <a:tc>
                  <a:txBody>
                    <a:bodyPr/>
                    <a:lstStyle/>
                    <a:p>
                      <a:pPr indent="0" marL="0">
                        <a:buNone/>
                      </a:pPr>
                      <a:r>
                        <a:rPr lang="en-US" sz="1400" b="1" dirty="0">
                          <a:solidFill>
                            <a:schemeClr val="bg1"/>
                          </a:solidFill>
                        </a:rPr>
                        <a:t>Dataset</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Role</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Status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FakeAVCeleb v1.2</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Main face + voice training and test</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Awaiting access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DFDC sample</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Pipeline development, face baseline</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Pending</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ASVspoof 2019 LA</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Voice training, per-attack evaluation</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Used</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Celeb-DF v2</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Cross-dataset face test</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Awaiting access</a:t>
                      </a:r>
                      <a:endParaRPr lang="en-US" sz="1400" dirty="0"/>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526280"/>
            <a:ext cx="5760720" cy="1463040"/>
          </a:xfrm>
          <a:prstGeom prst="rect">
            <a:avLst/>
          </a:prstGeom>
          <a:noFill/>
          <a:ln/>
        </p:spPr>
        <p:txBody>
          <a:bodyPr wrap="square" lIns="0" tIns="0" rIns="0" bIns="0" rtlCol="0" anchor="t"/>
          <a:lstStyle/>
          <a:p>
            <a:pPr indent="0" marL="0">
              <a:buNone/>
            </a:pPr>
            <a:r>
              <a:rPr lang="en-US" sz="1400" dirty="0">
                <a:solidFill>
                  <a:schemeClr val="accent5"/>
                </a:solidFill>
              </a:rPr>
              <a:t>Splits group by person ID (FakeAVCeleb), source video (DFDC) or official protocol (ASVspoof, Celeb-DF test list), so the same face or voice never appears in both training and test. Training refuses data whose groups or files cross splits.</a:t>
            </a:r>
            <a:endParaRPr lang="en-US" sz="1400" dirty="0"/>
          </a:p>
        </p:txBody>
      </p:sp>
      <p:sp>
        <p:nvSpPr>
          <p:cNvPr id="5" name="Text 2"/>
          <p:cNvSpPr txBox="1"/>
          <p:nvPr/>
        </p:nvSpPr>
        <p:spPr>
          <a:xfrm>
            <a:off x="6720840" y="1417320"/>
            <a:ext cx="4937760" cy="365760"/>
          </a:xfrm>
          <a:prstGeom prst="rect">
            <a:avLst/>
          </a:prstGeom>
          <a:noFill/>
          <a:ln/>
        </p:spPr>
        <p:txBody>
          <a:bodyPr wrap="square" lIns="0" tIns="0" rIns="0" bIns="0" rtlCol="0" anchor="t"/>
          <a:lstStyle/>
          <a:p>
            <a:pPr indent="0" marL="0">
              <a:buNone/>
            </a:pPr>
            <a:r>
              <a:rPr lang="en-US" sz="1800" b="1" dirty="0">
                <a:solidFill>
                  <a:schemeClr val="tx1"/>
                </a:solidFill>
              </a:rPr>
              <a:t>ASVspoof subset used for the voice model</a:t>
            </a:r>
            <a:endParaRPr lang="en-US" sz="1800" dirty="0"/>
          </a:p>
        </p:txBody>
      </p:sp>
      <p:graphicFrame>
        <p:nvGraphicFramePr>
          <p:cNvPr id="11" name="asvspoof split table"/>
          <p:cNvGraphicFramePr>
            <a:graphicFrameLocks noGrp="1"/>
          </p:cNvGraphicFramePr>
          <p:nvPr>
            <p:extLst>
              <p:ext uri="{D42A27DB-BD31-4B8C-83A1-F6EECF244321}">
                <p14:modId xmlns:p14="http://schemas.microsoft.com/office/powerpoint/2010/main" val="1579011935"/>
              </p:ext>
            </p:extLst>
          </p:nvPr>
        </p:nvGraphicFramePr>
        <p:xfrm>
          <a:off x="6720840" y="1874520"/>
          <a:ext cx="4919472" cy="914400"/>
        </p:xfrm>
        <a:graphic>
          <a:graphicData uri="http://schemas.openxmlformats.org/drawingml/2006/table">
            <a:tbl>
              <a:tblPr/>
              <a:tblGrid>
                <a:gridCol w="1051560"/>
                <a:gridCol w="1307592"/>
                <a:gridCol w="822960"/>
                <a:gridCol w="822960"/>
                <a:gridCol w="914400"/>
              </a:tblGrid>
              <a:tr h="502920">
                <a:tc>
                  <a:txBody>
                    <a:bodyPr/>
                    <a:lstStyle/>
                    <a:p>
                      <a:pPr indent="0" marL="0">
                        <a:buNone/>
                      </a:pPr>
                      <a:r>
                        <a:rPr lang="en-US" sz="1400" b="1" dirty="0">
                          <a:solidFill>
                            <a:schemeClr val="bg1"/>
                          </a:solidFill>
                        </a:rPr>
                        <a:t>Split</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Official partition</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Clips</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Spoof</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Bona fide</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Train</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train</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5,000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Validation</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development</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5,000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Test</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evaluation</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5,000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2,500</a:t>
                      </a:r>
                      <a:endParaRPr lang="en-US" sz="1400" dirty="0"/>
                    </a:p>
                  </a:txBody>
                  <a:tcPr marL="76200" marR="762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6720840" y="4023360"/>
            <a:ext cx="4919472" cy="1280160"/>
          </a:xfrm>
          <a:prstGeom prst="rect">
            <a:avLst/>
          </a:prstGeom>
          <a:noFill/>
          <a:ln/>
        </p:spPr>
        <p:txBody>
          <a:bodyPr wrap="square" lIns="0" tIns="0" rIns="0" bIns="0" rtlCol="0" anchor="t"/>
          <a:lstStyle/>
          <a:p>
            <a:pPr indent="0" marL="0">
              <a:buNone/>
            </a:pPr>
            <a:r>
              <a:rPr lang="en-US" sz="1400" dirty="0">
                <a:solidFill>
                  <a:schemeClr val="accent5"/>
                </a:solidFill>
              </a:rPr>
              <a:t>Balanced subset: up to 2,500 clips per class from each official partition (seed 42). Evaluation attacks A07–A19 are mostly absent from training, so the test measures generalisation to new attacks.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Architecture: two branches, one decision</a:t>
            </a:r>
            <a:endParaRPr lang="en-US" sz="3200" dirty="0"/>
          </a:p>
        </p:txBody>
      </p:sp>
      <p:sp>
        <p:nvSpPr>
          <p:cNvPr id="3" name="video step 0"/>
          <p:cNvSpPr/>
          <p:nvPr/>
        </p:nvSpPr>
        <p:spPr>
          <a:xfrm>
            <a:off x="548640" y="1600200"/>
            <a:ext cx="1600200" cy="868680"/>
          </a:xfrm>
          <a:prstGeom prst="roundRect">
            <a:avLst>
              <a:gd name="adj" fmla="val 10526"/>
            </a:avLst>
          </a:prstGeom>
          <a:solidFill>
            <a:schemeClr val="bg2"/>
          </a:solidFill>
          <a:ln/>
        </p:spPr>
      </p:sp>
      <p:sp>
        <p:nvSpPr>
          <p:cNvPr id="4" name="Text 2"/>
          <p:cNvSpPr txBox="1"/>
          <p:nvPr/>
        </p:nvSpPr>
        <p:spPr>
          <a:xfrm>
            <a:off x="621792" y="1600200"/>
            <a:ext cx="1453896" cy="868680"/>
          </a:xfrm>
          <a:prstGeom prst="rect">
            <a:avLst/>
          </a:prstGeom>
          <a:noFill/>
          <a:ln/>
        </p:spPr>
        <p:txBody>
          <a:bodyPr wrap="square" lIns="0" tIns="0" rIns="0" bIns="0" rtlCol="0" anchor="ctr"/>
          <a:lstStyle/>
          <a:p>
            <a:pPr algn="ctr" indent="0" marL="0">
              <a:buNone/>
            </a:pPr>
            <a:r>
              <a:rPr lang="en-US" sz="1400" b="1" dirty="0">
                <a:solidFill>
                  <a:schemeClr val="tx1"/>
                </a:solidFill>
              </a:rPr>
              <a:t>Video</a:t>
            </a:r>
            <a:endParaRPr lang="en-US" sz="1400" dirty="0"/>
          </a:p>
        </p:txBody>
      </p:sp>
      <p:sp>
        <p:nvSpPr>
          <p:cNvPr id="5" name="video step 1"/>
          <p:cNvSpPr/>
          <p:nvPr/>
        </p:nvSpPr>
        <p:spPr>
          <a:xfrm>
            <a:off x="2468880" y="1600200"/>
            <a:ext cx="1600200" cy="868680"/>
          </a:xfrm>
          <a:prstGeom prst="roundRect">
            <a:avLst>
              <a:gd name="adj" fmla="val 10526"/>
            </a:avLst>
          </a:prstGeom>
          <a:solidFill>
            <a:schemeClr val="bg2"/>
          </a:solidFill>
          <a:ln/>
        </p:spPr>
      </p:sp>
      <p:sp>
        <p:nvSpPr>
          <p:cNvPr id="6" name="Text 4"/>
          <p:cNvSpPr txBox="1"/>
          <p:nvPr/>
        </p:nvSpPr>
        <p:spPr>
          <a:xfrm>
            <a:off x="2542032" y="1600200"/>
            <a:ext cx="1453896" cy="868680"/>
          </a:xfrm>
          <a:prstGeom prst="rect">
            <a:avLst/>
          </a:prstGeom>
          <a:noFill/>
          <a:ln/>
        </p:spPr>
        <p:txBody>
          <a:bodyPr wrap="square" lIns="0" tIns="0" rIns="0" bIns="0" rtlCol="0" anchor="ctr"/>
          <a:lstStyle/>
          <a:p>
            <a:pPr algn="ctr" indent="0" marL="0">
              <a:buNone/>
            </a:pPr>
            <a:r>
              <a:rPr lang="en-US" sz="1400" b="1" dirty="0">
                <a:solidFill>
                  <a:schemeClr val="tx1"/>
                </a:solidFill>
              </a:rPr>
              <a:t>16 frames, uniform</a:t>
            </a:r>
            <a:endParaRPr lang="en-US" sz="1400" dirty="0"/>
          </a:p>
        </p:txBody>
      </p:sp>
      <p:sp>
        <p:nvSpPr>
          <p:cNvPr id="7" name="video step 2"/>
          <p:cNvSpPr/>
          <p:nvPr/>
        </p:nvSpPr>
        <p:spPr>
          <a:xfrm>
            <a:off x="4389120" y="1600200"/>
            <a:ext cx="1600200" cy="868680"/>
          </a:xfrm>
          <a:prstGeom prst="roundRect">
            <a:avLst>
              <a:gd name="adj" fmla="val 10526"/>
            </a:avLst>
          </a:prstGeom>
          <a:solidFill>
            <a:schemeClr val="bg2"/>
          </a:solidFill>
          <a:ln/>
        </p:spPr>
      </p:sp>
      <p:sp>
        <p:nvSpPr>
          <p:cNvPr id="8" name="Text 6"/>
          <p:cNvSpPr txBox="1"/>
          <p:nvPr/>
        </p:nvSpPr>
        <p:spPr>
          <a:xfrm>
            <a:off x="4462272" y="1600200"/>
            <a:ext cx="1453896" cy="868680"/>
          </a:xfrm>
          <a:prstGeom prst="rect">
            <a:avLst/>
          </a:prstGeom>
          <a:noFill/>
          <a:ln/>
        </p:spPr>
        <p:txBody>
          <a:bodyPr wrap="square" lIns="0" tIns="0" rIns="0" bIns="0" rtlCol="0" anchor="ctr"/>
          <a:lstStyle/>
          <a:p>
            <a:pPr algn="ctr" indent="0" marL="0">
              <a:buNone/>
            </a:pPr>
            <a:r>
              <a:rPr lang="en-US" sz="1400" b="1" dirty="0">
                <a:solidFill>
                  <a:schemeClr val="tx1"/>
                </a:solidFill>
              </a:rPr>
              <a:t>YuNet face crops 224²</a:t>
            </a:r>
            <a:endParaRPr lang="en-US" sz="1400" dirty="0"/>
          </a:p>
        </p:txBody>
      </p:sp>
      <p:sp>
        <p:nvSpPr>
          <p:cNvPr id="9" name="video step 3"/>
          <p:cNvSpPr/>
          <p:nvPr/>
        </p:nvSpPr>
        <p:spPr>
          <a:xfrm>
            <a:off x="6309360" y="1600200"/>
            <a:ext cx="1600200" cy="868680"/>
          </a:xfrm>
          <a:prstGeom prst="roundRect">
            <a:avLst>
              <a:gd name="adj" fmla="val 10526"/>
            </a:avLst>
          </a:prstGeom>
          <a:solidFill>
            <a:schemeClr val="accent1"/>
          </a:solidFill>
          <a:ln/>
        </p:spPr>
      </p:sp>
      <p:sp>
        <p:nvSpPr>
          <p:cNvPr id="10" name="Text 8"/>
          <p:cNvSpPr txBox="1"/>
          <p:nvPr/>
        </p:nvSpPr>
        <p:spPr>
          <a:xfrm>
            <a:off x="6382512" y="1600200"/>
            <a:ext cx="1453896" cy="868680"/>
          </a:xfrm>
          <a:prstGeom prst="rect">
            <a:avLst/>
          </a:prstGeom>
          <a:noFill/>
          <a:ln/>
        </p:spPr>
        <p:txBody>
          <a:bodyPr wrap="square" lIns="0" tIns="0" rIns="0" bIns="0" rtlCol="0" anchor="ctr"/>
          <a:lstStyle/>
          <a:p>
            <a:pPr algn="ctr" indent="0" marL="0">
              <a:buNone/>
            </a:pPr>
            <a:r>
              <a:rPr lang="en-US" sz="1400" b="1" dirty="0">
                <a:solidFill>
                  <a:schemeClr val="bg1"/>
                </a:solidFill>
              </a:rPr>
              <a:t>EfficientNet-B0 face model</a:t>
            </a:r>
            <a:endParaRPr lang="en-US" sz="1400" dirty="0"/>
          </a:p>
        </p:txBody>
      </p:sp>
      <p:sp>
        <p:nvSpPr>
          <p:cNvPr id="11" name="audio step 0"/>
          <p:cNvSpPr/>
          <p:nvPr/>
        </p:nvSpPr>
        <p:spPr>
          <a:xfrm>
            <a:off x="548640" y="3246120"/>
            <a:ext cx="1600200" cy="868680"/>
          </a:xfrm>
          <a:prstGeom prst="roundRect">
            <a:avLst>
              <a:gd name="adj" fmla="val 10526"/>
            </a:avLst>
          </a:prstGeom>
          <a:solidFill>
            <a:schemeClr val="bg2"/>
          </a:solidFill>
          <a:ln/>
        </p:spPr>
      </p:sp>
      <p:sp>
        <p:nvSpPr>
          <p:cNvPr id="12" name="Text 10"/>
          <p:cNvSpPr txBox="1"/>
          <p:nvPr/>
        </p:nvSpPr>
        <p:spPr>
          <a:xfrm>
            <a:off x="621792" y="3246120"/>
            <a:ext cx="1453896" cy="868680"/>
          </a:xfrm>
          <a:prstGeom prst="rect">
            <a:avLst/>
          </a:prstGeom>
          <a:noFill/>
          <a:ln/>
        </p:spPr>
        <p:txBody>
          <a:bodyPr wrap="square" lIns="0" tIns="0" rIns="0" bIns="0" rtlCol="0" anchor="ctr"/>
          <a:lstStyle/>
          <a:p>
            <a:pPr algn="ctr" indent="0" marL="0">
              <a:buNone/>
            </a:pPr>
            <a:r>
              <a:rPr lang="en-US" sz="1400" b="1" dirty="0">
                <a:solidFill>
                  <a:schemeClr val="tx1"/>
                </a:solidFill>
              </a:rPr>
              <a:t>Audio track</a:t>
            </a:r>
            <a:endParaRPr lang="en-US" sz="1400" dirty="0"/>
          </a:p>
        </p:txBody>
      </p:sp>
      <p:sp>
        <p:nvSpPr>
          <p:cNvPr id="13" name="audio step 1"/>
          <p:cNvSpPr/>
          <p:nvPr/>
        </p:nvSpPr>
        <p:spPr>
          <a:xfrm>
            <a:off x="2468880" y="3246120"/>
            <a:ext cx="1600200" cy="868680"/>
          </a:xfrm>
          <a:prstGeom prst="roundRect">
            <a:avLst>
              <a:gd name="adj" fmla="val 10526"/>
            </a:avLst>
          </a:prstGeom>
          <a:solidFill>
            <a:schemeClr val="bg2"/>
          </a:solidFill>
          <a:ln/>
        </p:spPr>
      </p:sp>
      <p:sp>
        <p:nvSpPr>
          <p:cNvPr id="14" name="Text 12"/>
          <p:cNvSpPr txBox="1"/>
          <p:nvPr/>
        </p:nvSpPr>
        <p:spPr>
          <a:xfrm>
            <a:off x="2542032" y="3246120"/>
            <a:ext cx="1453896" cy="868680"/>
          </a:xfrm>
          <a:prstGeom prst="rect">
            <a:avLst/>
          </a:prstGeom>
          <a:noFill/>
          <a:ln/>
        </p:spPr>
        <p:txBody>
          <a:bodyPr wrap="square" lIns="0" tIns="0" rIns="0" bIns="0" rtlCol="0" anchor="ctr"/>
          <a:lstStyle/>
          <a:p>
            <a:pPr algn="ctr" indent="0" marL="0">
              <a:buNone/>
            </a:pPr>
            <a:r>
              <a:rPr lang="en-US" sz="1400" b="1" dirty="0">
                <a:solidFill>
                  <a:schemeClr val="tx1"/>
                </a:solidFill>
              </a:rPr>
              <a:t>16 kHz log-mel, 4 s window</a:t>
            </a:r>
            <a:endParaRPr lang="en-US" sz="1400" dirty="0"/>
          </a:p>
        </p:txBody>
      </p:sp>
      <p:sp>
        <p:nvSpPr>
          <p:cNvPr id="15" name="audio step 3"/>
          <p:cNvSpPr/>
          <p:nvPr/>
        </p:nvSpPr>
        <p:spPr>
          <a:xfrm>
            <a:off x="6309360" y="3246120"/>
            <a:ext cx="1600200" cy="868680"/>
          </a:xfrm>
          <a:prstGeom prst="roundRect">
            <a:avLst>
              <a:gd name="adj" fmla="val 10526"/>
            </a:avLst>
          </a:prstGeom>
          <a:solidFill>
            <a:schemeClr val="accent1"/>
          </a:solidFill>
          <a:ln/>
        </p:spPr>
      </p:sp>
      <p:sp>
        <p:nvSpPr>
          <p:cNvPr id="16" name="Text 14"/>
          <p:cNvSpPr txBox="1"/>
          <p:nvPr/>
        </p:nvSpPr>
        <p:spPr>
          <a:xfrm>
            <a:off x="6382512" y="3246120"/>
            <a:ext cx="1453896" cy="868680"/>
          </a:xfrm>
          <a:prstGeom prst="rect">
            <a:avLst/>
          </a:prstGeom>
          <a:noFill/>
          <a:ln/>
        </p:spPr>
        <p:txBody>
          <a:bodyPr wrap="square" lIns="0" tIns="0" rIns="0" bIns="0" rtlCol="0" anchor="ctr"/>
          <a:lstStyle/>
          <a:p>
            <a:pPr algn="ctr" indent="0" marL="0">
              <a:buNone/>
            </a:pPr>
            <a:r>
              <a:rPr lang="en-US" sz="1400" b="1" dirty="0">
                <a:solidFill>
                  <a:schemeClr val="bg1"/>
                </a:solidFill>
              </a:rPr>
              <a:t>ResNet-18 voice model</a:t>
            </a:r>
            <a:endParaRPr lang="en-US" sz="1400" dirty="0"/>
          </a:p>
        </p:txBody>
      </p:sp>
      <p:sp>
        <p:nvSpPr>
          <p:cNvPr id="17" name="video arrow 0"/>
          <p:cNvSpPr/>
          <p:nvPr/>
        </p:nvSpPr>
        <p:spPr>
          <a:xfrm>
            <a:off x="2148840" y="2034540"/>
            <a:ext cx="320040" cy="914"/>
          </a:xfrm>
          <a:prstGeom prst="line">
            <a:avLst/>
          </a:prstGeom>
          <a:noFill/>
          <a:ln w="22225">
            <a:solidFill>
              <a:schemeClr val="accent5"/>
            </a:solidFill>
            <a:prstDash val="solid"/>
            <a:tailEnd type="triangle"/>
          </a:ln>
        </p:spPr>
      </p:sp>
      <p:sp>
        <p:nvSpPr>
          <p:cNvPr id="18" name="video arrow 1"/>
          <p:cNvSpPr/>
          <p:nvPr/>
        </p:nvSpPr>
        <p:spPr>
          <a:xfrm>
            <a:off x="4069080" y="2034540"/>
            <a:ext cx="320040" cy="914"/>
          </a:xfrm>
          <a:prstGeom prst="line">
            <a:avLst/>
          </a:prstGeom>
          <a:noFill/>
          <a:ln w="22225">
            <a:solidFill>
              <a:schemeClr val="accent5"/>
            </a:solidFill>
            <a:prstDash val="solid"/>
            <a:tailEnd type="triangle"/>
          </a:ln>
        </p:spPr>
      </p:sp>
      <p:sp>
        <p:nvSpPr>
          <p:cNvPr id="19" name="video arrow 2"/>
          <p:cNvSpPr/>
          <p:nvPr/>
        </p:nvSpPr>
        <p:spPr>
          <a:xfrm>
            <a:off x="5989320" y="2034540"/>
            <a:ext cx="320040" cy="914"/>
          </a:xfrm>
          <a:prstGeom prst="line">
            <a:avLst/>
          </a:prstGeom>
          <a:noFill/>
          <a:ln w="22225">
            <a:solidFill>
              <a:schemeClr val="accent5"/>
            </a:solidFill>
            <a:prstDash val="solid"/>
            <a:tailEnd type="triangle"/>
          </a:ln>
        </p:spPr>
      </p:sp>
      <p:sp>
        <p:nvSpPr>
          <p:cNvPr id="20" name="audio arrow 0"/>
          <p:cNvSpPr/>
          <p:nvPr/>
        </p:nvSpPr>
        <p:spPr>
          <a:xfrm>
            <a:off x="2148840" y="3680460"/>
            <a:ext cx="320040" cy="914"/>
          </a:xfrm>
          <a:prstGeom prst="line">
            <a:avLst/>
          </a:prstGeom>
          <a:noFill/>
          <a:ln w="22225">
            <a:solidFill>
              <a:schemeClr val="accent5"/>
            </a:solidFill>
            <a:prstDash val="solid"/>
            <a:tailEnd type="triangle"/>
          </a:ln>
        </p:spPr>
      </p:sp>
      <p:sp>
        <p:nvSpPr>
          <p:cNvPr id="21" name="audio arrow 1"/>
          <p:cNvSpPr/>
          <p:nvPr/>
        </p:nvSpPr>
        <p:spPr>
          <a:xfrm>
            <a:off x="4069080" y="3680460"/>
            <a:ext cx="2240280" cy="914"/>
          </a:xfrm>
          <a:prstGeom prst="line">
            <a:avLst/>
          </a:prstGeom>
          <a:noFill/>
          <a:ln w="22225">
            <a:solidFill>
              <a:schemeClr val="accent5"/>
            </a:solidFill>
            <a:prstDash val="solid"/>
            <a:tailEnd type="triangle"/>
          </a:ln>
        </p:spPr>
      </p:sp>
      <p:sp>
        <p:nvSpPr>
          <p:cNvPr id="22" name="face status pill"/>
          <p:cNvSpPr/>
          <p:nvPr/>
        </p:nvSpPr>
        <p:spPr>
          <a:xfrm>
            <a:off x="6469380" y="1188720"/>
            <a:ext cx="1280160" cy="292608"/>
          </a:xfrm>
          <a:prstGeom prst="roundRect">
            <a:avLst>
              <a:gd name="adj" fmla="val 50000"/>
            </a:avLst>
          </a:prstGeom>
          <a:solidFill>
            <a:schemeClr val="accent4"/>
          </a:solidFill>
          <a:ln/>
        </p:spPr>
      </p:sp>
      <p:sp>
        <p:nvSpPr>
          <p:cNvPr id="23" name="face status pill text"/>
          <p:cNvSpPr txBox="1"/>
          <p:nvPr/>
        </p:nvSpPr>
        <p:spPr>
          <a:xfrm>
            <a:off x="6469380" y="1188720"/>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pending data</a:t>
            </a:r>
            <a:endParaRPr lang="en-US" sz="1100" dirty="0"/>
          </a:p>
        </p:txBody>
      </p:sp>
      <p:sp>
        <p:nvSpPr>
          <p:cNvPr id="24" name="voice status pill"/>
          <p:cNvSpPr/>
          <p:nvPr/>
        </p:nvSpPr>
        <p:spPr>
          <a:xfrm>
            <a:off x="6606540" y="4233672"/>
            <a:ext cx="1005840" cy="292608"/>
          </a:xfrm>
          <a:prstGeom prst="roundRect">
            <a:avLst>
              <a:gd name="adj" fmla="val 50000"/>
            </a:avLst>
          </a:prstGeom>
          <a:solidFill>
            <a:schemeClr val="accent3"/>
          </a:solidFill>
          <a:ln/>
        </p:spPr>
      </p:sp>
      <p:sp>
        <p:nvSpPr>
          <p:cNvPr id="25" name="voice status pill text"/>
          <p:cNvSpPr txBox="1"/>
          <p:nvPr/>
        </p:nvSpPr>
        <p:spPr>
          <a:xfrm>
            <a:off x="6606540" y="4233672"/>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trained</a:t>
            </a:r>
            <a:endParaRPr lang="en-US" sz="1100" dirty="0"/>
          </a:p>
        </p:txBody>
      </p:sp>
      <p:sp>
        <p:nvSpPr>
          <p:cNvPr id="26" name="fusion box"/>
          <p:cNvSpPr/>
          <p:nvPr/>
        </p:nvSpPr>
        <p:spPr>
          <a:xfrm>
            <a:off x="8229600" y="1600200"/>
            <a:ext cx="1783080" cy="2514600"/>
          </a:xfrm>
          <a:prstGeom prst="roundRect">
            <a:avLst>
              <a:gd name="adj" fmla="val 5128"/>
            </a:avLst>
          </a:prstGeom>
          <a:solidFill>
            <a:schemeClr val="tx2"/>
          </a:solidFill>
          <a:ln/>
        </p:spPr>
      </p:sp>
      <p:sp>
        <p:nvSpPr>
          <p:cNvPr id="27" name="Text 25"/>
          <p:cNvSpPr txBox="1"/>
          <p:nvPr/>
        </p:nvSpPr>
        <p:spPr>
          <a:xfrm>
            <a:off x="8302752" y="1600200"/>
            <a:ext cx="1636776" cy="2514600"/>
          </a:xfrm>
          <a:prstGeom prst="rect">
            <a:avLst/>
          </a:prstGeom>
          <a:noFill/>
          <a:ln/>
        </p:spPr>
        <p:txBody>
          <a:bodyPr wrap="square" lIns="0" tIns="0" rIns="0" bIns="0" rtlCol="0" anchor="ctr"/>
          <a:lstStyle/>
          <a:p>
            <a:pPr algn="ctr" indent="0" marL="0">
              <a:buNone/>
            </a:pPr>
            <a:r>
              <a:rPr lang="en-US" sz="1300" b="1" dirty="0">
                <a:solidFill>
                  <a:schemeClr val="bg1"/>
                </a:solidFill>
              </a:rPr>
              <a:t>Fusion</a:t>
            </a:r>
            <a:endParaRPr lang="en-US" sz="1300" dirty="0"/>
          </a:p>
          <a:p>
            <a:pPr algn="ctr" indent="0" marL="0">
              <a:buNone/>
            </a:pPr>
            <a:r>
              <a:rPr lang="en-US" sz="1300" b="1" dirty="0">
                <a:solidFill>
                  <a:schemeClr val="bg1"/>
                </a:solidFill>
              </a:rPr>
              <a:t>late: max · noisy-OR · weighted</a:t>
            </a:r>
            <a:endParaRPr lang="en-US" sz="1300" dirty="0"/>
          </a:p>
          <a:p>
            <a:pPr algn="ctr" indent="0" marL="0">
              <a:buNone/>
            </a:pPr>
            <a:r>
              <a:rPr lang="en-US" sz="1300" b="1" dirty="0">
                <a:solidFill>
                  <a:schemeClr val="bg1"/>
                </a:solidFill>
              </a:rPr>
              <a:t>intermediate: MLP + modality dropout</a:t>
            </a:r>
            <a:endParaRPr lang="en-US" sz="1300" dirty="0"/>
          </a:p>
        </p:txBody>
      </p:sp>
      <p:sp>
        <p:nvSpPr>
          <p:cNvPr id="28" name="face to fusion"/>
          <p:cNvSpPr/>
          <p:nvPr/>
        </p:nvSpPr>
        <p:spPr>
          <a:xfrm>
            <a:off x="7909560" y="2034540"/>
            <a:ext cx="320040" cy="914"/>
          </a:xfrm>
          <a:prstGeom prst="line">
            <a:avLst/>
          </a:prstGeom>
          <a:noFill/>
          <a:ln w="22225">
            <a:solidFill>
              <a:schemeClr val="accent5"/>
            </a:solidFill>
            <a:prstDash val="solid"/>
            <a:tailEnd type="triangle"/>
          </a:ln>
        </p:spPr>
      </p:sp>
      <p:sp>
        <p:nvSpPr>
          <p:cNvPr id="29" name="voice to fusion"/>
          <p:cNvSpPr/>
          <p:nvPr/>
        </p:nvSpPr>
        <p:spPr>
          <a:xfrm>
            <a:off x="7909560" y="3680460"/>
            <a:ext cx="320040" cy="914"/>
          </a:xfrm>
          <a:prstGeom prst="line">
            <a:avLst/>
          </a:prstGeom>
          <a:noFill/>
          <a:ln w="22225">
            <a:solidFill>
              <a:schemeClr val="accent5"/>
            </a:solidFill>
            <a:prstDash val="solid"/>
            <a:tailEnd type="triangle"/>
          </a:ln>
        </p:spPr>
      </p:sp>
      <p:sp>
        <p:nvSpPr>
          <p:cNvPr id="30" name="output box"/>
          <p:cNvSpPr/>
          <p:nvPr/>
        </p:nvSpPr>
        <p:spPr>
          <a:xfrm>
            <a:off x="10332720" y="2103120"/>
            <a:ext cx="1310335" cy="1508760"/>
          </a:xfrm>
          <a:prstGeom prst="roundRect">
            <a:avLst>
              <a:gd name="adj" fmla="val 6978"/>
            </a:avLst>
          </a:prstGeom>
          <a:solidFill>
            <a:schemeClr val="accent2"/>
          </a:solidFill>
          <a:ln/>
        </p:spPr>
      </p:sp>
      <p:sp>
        <p:nvSpPr>
          <p:cNvPr id="31" name="Text 29"/>
          <p:cNvSpPr txBox="1"/>
          <p:nvPr/>
        </p:nvSpPr>
        <p:spPr>
          <a:xfrm>
            <a:off x="10405872" y="2103120"/>
            <a:ext cx="1164031" cy="1508760"/>
          </a:xfrm>
          <a:prstGeom prst="rect">
            <a:avLst/>
          </a:prstGeom>
          <a:noFill/>
          <a:ln/>
        </p:spPr>
        <p:txBody>
          <a:bodyPr wrap="square" lIns="0" tIns="0" rIns="0" bIns="0" rtlCol="0" anchor="ctr"/>
          <a:lstStyle/>
          <a:p>
            <a:pPr algn="ctr" indent="0" marL="0">
              <a:buNone/>
            </a:pPr>
            <a:r>
              <a:rPr lang="en-US" sz="1300" b="1" dirty="0">
                <a:solidFill>
                  <a:schemeClr val="bg1"/>
                </a:solidFill>
              </a:rPr>
              <a:t>P(fake)</a:t>
            </a:r>
            <a:endParaRPr lang="en-US" sz="1300" dirty="0"/>
          </a:p>
          <a:p>
            <a:pPr algn="ctr" indent="0" marL="0">
              <a:buNone/>
            </a:pPr>
            <a:r>
              <a:rPr lang="en-US" sz="1300" b="1" dirty="0">
                <a:solidFill>
                  <a:schemeClr val="bg1"/>
                </a:solidFill>
              </a:rPr>
              <a:t>+ Grad-CAM evidence</a:t>
            </a:r>
            <a:endParaRPr lang="en-US" sz="1300" dirty="0"/>
          </a:p>
        </p:txBody>
      </p:sp>
      <p:sp>
        <p:nvSpPr>
          <p:cNvPr id="32" name="fusion to output"/>
          <p:cNvSpPr/>
          <p:nvPr/>
        </p:nvSpPr>
        <p:spPr>
          <a:xfrm>
            <a:off x="10012680" y="2857500"/>
            <a:ext cx="320040" cy="914"/>
          </a:xfrm>
          <a:prstGeom prst="line">
            <a:avLst/>
          </a:prstGeom>
          <a:noFill/>
          <a:ln w="22225">
            <a:solidFill>
              <a:schemeClr val="accent5"/>
            </a:solidFill>
            <a:prstDash val="solid"/>
            <a:tailEnd type="triangle"/>
          </a:ln>
        </p:spPr>
      </p:sp>
      <p:sp>
        <p:nvSpPr>
          <p:cNvPr id="33" name="label card 0"/>
          <p:cNvSpPr/>
          <p:nvPr/>
        </p:nvSpPr>
        <p:spPr>
          <a:xfrm>
            <a:off x="548640" y="4800600"/>
            <a:ext cx="3566160" cy="1188720"/>
          </a:xfrm>
          <a:prstGeom prst="roundRect">
            <a:avLst>
              <a:gd name="adj" fmla="val 9231"/>
            </a:avLst>
          </a:prstGeom>
          <a:solidFill>
            <a:schemeClr val="bg2"/>
          </a:solidFill>
          <a:ln/>
        </p:spPr>
      </p:sp>
      <p:sp>
        <p:nvSpPr>
          <p:cNvPr id="34" name="Text 32"/>
          <p:cNvSpPr txBox="1"/>
          <p:nvPr/>
        </p:nvSpPr>
        <p:spPr>
          <a:xfrm>
            <a:off x="777240" y="4937760"/>
            <a:ext cx="3108960" cy="320040"/>
          </a:xfrm>
          <a:prstGeom prst="rect">
            <a:avLst/>
          </a:prstGeom>
          <a:noFill/>
          <a:ln/>
        </p:spPr>
        <p:txBody>
          <a:bodyPr wrap="square" lIns="0" tIns="0" rIns="0" bIns="0" rtlCol="0" anchor="t"/>
          <a:lstStyle/>
          <a:p>
            <a:pPr indent="0" marL="0">
              <a:buNone/>
            </a:pPr>
            <a:r>
              <a:rPr lang="en-US" sz="1500" b="1" dirty="0">
                <a:solidFill>
                  <a:schemeClr val="tx1"/>
                </a:solidFill>
              </a:rPr>
              <a:t>Face label</a:t>
            </a:r>
            <a:endParaRPr lang="en-US" sz="1500" dirty="0"/>
          </a:p>
        </p:txBody>
      </p:sp>
      <p:sp>
        <p:nvSpPr>
          <p:cNvPr id="35" name="Text 33"/>
          <p:cNvSpPr txBox="1"/>
          <p:nvPr/>
        </p:nvSpPr>
        <p:spPr>
          <a:xfrm>
            <a:off x="777240" y="5285232"/>
            <a:ext cx="3108960" cy="640080"/>
          </a:xfrm>
          <a:prstGeom prst="rect">
            <a:avLst/>
          </a:prstGeom>
          <a:noFill/>
          <a:ln/>
        </p:spPr>
        <p:txBody>
          <a:bodyPr wrap="square" lIns="0" tIns="0" rIns="0" bIns="0" rtlCol="0" anchor="t"/>
          <a:lstStyle/>
          <a:p>
            <a:pPr indent="0" marL="0">
              <a:buNone/>
            </a:pPr>
            <a:r>
              <a:rPr lang="en-US" sz="1400" dirty="0">
                <a:solidFill>
                  <a:schemeClr val="accent5"/>
                </a:solidFill>
              </a:rPr>
              <a:t>video_label: a real face with a cloned voice counts as real</a:t>
            </a:r>
            <a:endParaRPr lang="en-US" sz="1400" dirty="0"/>
          </a:p>
        </p:txBody>
      </p:sp>
      <p:sp>
        <p:nvSpPr>
          <p:cNvPr id="36" name="label card 1"/>
          <p:cNvSpPr/>
          <p:nvPr/>
        </p:nvSpPr>
        <p:spPr>
          <a:xfrm>
            <a:off x="4297680" y="4800600"/>
            <a:ext cx="3566160" cy="1188720"/>
          </a:xfrm>
          <a:prstGeom prst="roundRect">
            <a:avLst>
              <a:gd name="adj" fmla="val 9231"/>
            </a:avLst>
          </a:prstGeom>
          <a:solidFill>
            <a:schemeClr val="bg2"/>
          </a:solidFill>
          <a:ln/>
        </p:spPr>
      </p:sp>
      <p:sp>
        <p:nvSpPr>
          <p:cNvPr id="37" name="Text 35"/>
          <p:cNvSpPr txBox="1"/>
          <p:nvPr/>
        </p:nvSpPr>
        <p:spPr>
          <a:xfrm>
            <a:off x="4526280" y="4937760"/>
            <a:ext cx="3108960" cy="320040"/>
          </a:xfrm>
          <a:prstGeom prst="rect">
            <a:avLst/>
          </a:prstGeom>
          <a:noFill/>
          <a:ln/>
        </p:spPr>
        <p:txBody>
          <a:bodyPr wrap="square" lIns="0" tIns="0" rIns="0" bIns="0" rtlCol="0" anchor="t"/>
          <a:lstStyle/>
          <a:p>
            <a:pPr indent="0" marL="0">
              <a:buNone/>
            </a:pPr>
            <a:r>
              <a:rPr lang="en-US" sz="1500" b="1" dirty="0">
                <a:solidFill>
                  <a:schemeClr val="tx1"/>
                </a:solidFill>
              </a:rPr>
              <a:t>Voice label</a:t>
            </a:r>
            <a:endParaRPr lang="en-US" sz="1500" dirty="0"/>
          </a:p>
        </p:txBody>
      </p:sp>
      <p:sp>
        <p:nvSpPr>
          <p:cNvPr id="38" name="Text 36"/>
          <p:cNvSpPr txBox="1"/>
          <p:nvPr/>
        </p:nvSpPr>
        <p:spPr>
          <a:xfrm>
            <a:off x="4526280" y="5285232"/>
            <a:ext cx="3108960" cy="640080"/>
          </a:xfrm>
          <a:prstGeom prst="rect">
            <a:avLst/>
          </a:prstGeom>
          <a:noFill/>
          <a:ln/>
        </p:spPr>
        <p:txBody>
          <a:bodyPr wrap="square" lIns="0" tIns="0" rIns="0" bIns="0" rtlCol="0" anchor="t"/>
          <a:lstStyle/>
          <a:p>
            <a:pPr indent="0" marL="0">
              <a:buNone/>
            </a:pPr>
            <a:r>
              <a:rPr lang="en-US" sz="1400" dirty="0">
                <a:solidFill>
                  <a:schemeClr val="accent5"/>
                </a:solidFill>
              </a:rPr>
              <a:t>audio_label: bona fide vs. spoofed speech</a:t>
            </a:r>
            <a:endParaRPr lang="en-US" sz="1400" dirty="0"/>
          </a:p>
        </p:txBody>
      </p:sp>
      <p:sp>
        <p:nvSpPr>
          <p:cNvPr id="39" name="label card 2"/>
          <p:cNvSpPr/>
          <p:nvPr/>
        </p:nvSpPr>
        <p:spPr>
          <a:xfrm>
            <a:off x="8046720" y="4800600"/>
            <a:ext cx="3566160" cy="1188720"/>
          </a:xfrm>
          <a:prstGeom prst="roundRect">
            <a:avLst>
              <a:gd name="adj" fmla="val 9231"/>
            </a:avLst>
          </a:prstGeom>
          <a:solidFill>
            <a:schemeClr val="bg2"/>
          </a:solidFill>
          <a:ln/>
        </p:spPr>
      </p:sp>
      <p:sp>
        <p:nvSpPr>
          <p:cNvPr id="40" name="Text 38"/>
          <p:cNvSpPr txBox="1"/>
          <p:nvPr/>
        </p:nvSpPr>
        <p:spPr>
          <a:xfrm>
            <a:off x="8275320" y="4937760"/>
            <a:ext cx="3108960" cy="320040"/>
          </a:xfrm>
          <a:prstGeom prst="rect">
            <a:avLst/>
          </a:prstGeom>
          <a:noFill/>
          <a:ln/>
        </p:spPr>
        <p:txBody>
          <a:bodyPr wrap="square" lIns="0" tIns="0" rIns="0" bIns="0" rtlCol="0" anchor="t"/>
          <a:lstStyle/>
          <a:p>
            <a:pPr indent="0" marL="0">
              <a:buNone/>
            </a:pPr>
            <a:r>
              <a:rPr lang="en-US" sz="1500" b="1" dirty="0">
                <a:solidFill>
                  <a:schemeClr val="tx1"/>
                </a:solidFill>
              </a:rPr>
              <a:t>Overall label</a:t>
            </a:r>
            <a:endParaRPr lang="en-US" sz="1500" dirty="0"/>
          </a:p>
        </p:txBody>
      </p:sp>
      <p:sp>
        <p:nvSpPr>
          <p:cNvPr id="41" name="Text 39"/>
          <p:cNvSpPr txBox="1"/>
          <p:nvPr/>
        </p:nvSpPr>
        <p:spPr>
          <a:xfrm>
            <a:off x="8275320" y="5285232"/>
            <a:ext cx="3108960" cy="640080"/>
          </a:xfrm>
          <a:prstGeom prst="rect">
            <a:avLst/>
          </a:prstGeom>
          <a:noFill/>
          <a:ln/>
        </p:spPr>
        <p:txBody>
          <a:bodyPr wrap="square" lIns="0" tIns="0" rIns="0" bIns="0" rtlCol="0" anchor="t"/>
          <a:lstStyle/>
          <a:p>
            <a:pPr indent="0" marL="0">
              <a:buNone/>
            </a:pPr>
            <a:r>
              <a:rPr lang="en-US" sz="1400" dirty="0">
                <a:solidFill>
                  <a:schemeClr val="accent5"/>
                </a:solidFill>
              </a:rPr>
              <a:t>fake if the face OR the voice is fake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Preprocessing, training and evaluation</a:t>
            </a:r>
            <a:endParaRPr lang="en-US" sz="3200" dirty="0"/>
          </a:p>
        </p:txBody>
      </p:sp>
      <p:sp>
        <p:nvSpPr>
          <p:cNvPr id="3" name="setup card 0"/>
          <p:cNvSpPr/>
          <p:nvPr/>
        </p:nvSpPr>
        <p:spPr>
          <a:xfrm>
            <a:off x="548640" y="1417320"/>
            <a:ext cx="3566160" cy="3429000"/>
          </a:xfrm>
          <a:prstGeom prst="roundRect">
            <a:avLst>
              <a:gd name="adj" fmla="val 3200"/>
            </a:avLst>
          </a:prstGeom>
          <a:solidFill>
            <a:schemeClr val="bg2"/>
          </a:solidFill>
          <a:ln/>
        </p:spPr>
      </p:sp>
      <p:sp>
        <p:nvSpPr>
          <p:cNvPr id="4" name="setup Preprocessing circle"/>
          <p:cNvSpPr/>
          <p:nvPr/>
        </p:nvSpPr>
        <p:spPr>
          <a:xfrm>
            <a:off x="822960" y="1645920"/>
            <a:ext cx="640080" cy="640080"/>
          </a:xfrm>
          <a:prstGeom prst="ellipse">
            <a:avLst/>
          </a:prstGeom>
          <a:solidFill>
            <a:schemeClr val="accent1"/>
          </a:solidFill>
          <a:ln/>
        </p:spPr>
      </p:sp>
      <p:pic>
        <p:nvPicPr>
          <p:cNvPr id="5" name="setup Preprocessing icon" descr="preencoded.png">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00200" y="164592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Preprocessing</a:t>
            </a:r>
            <a:endParaRPr lang="en-US" sz="2000" dirty="0"/>
          </a:p>
        </p:txBody>
      </p:sp>
      <p:sp>
        <p:nvSpPr>
          <p:cNvPr id="7" name="Text 4"/>
          <p:cNvSpPr txBox="1"/>
          <p:nvPr/>
        </p:nvSpPr>
        <p:spPr>
          <a:xfrm>
            <a:off x="822960" y="2514600"/>
            <a:ext cx="306324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16 frames per video, YuNet faces, 224² crops (margin 1.3)</a:t>
            </a:r>
            <a:endParaRPr lang="en-US" sz="1400" dirty="0"/>
          </a:p>
          <a:p>
            <a:pPr marL="342900" indent="-342900">
              <a:spcAft>
                <a:spcPts val="600"/>
              </a:spcAft>
              <a:buSzPct val="100000"/>
              <a:buChar char="•"/>
            </a:pPr>
            <a:r>
              <a:rPr lang="en-US" sz="1400" dirty="0">
                <a:solidFill>
                  <a:schemeClr val="tx1"/>
                </a:solidFill>
              </a:rPr>
              <a:t>Audio: 16 kHz mono, first 10 s, 128-bin log-mel (25 ms window, 10 ms hop)</a:t>
            </a:r>
            <a:endParaRPr lang="en-US" sz="1400" dirty="0"/>
          </a:p>
          <a:p>
            <a:pPr marL="342900" indent="-342900">
              <a:spcAft>
                <a:spcPts val="600"/>
              </a:spcAft>
              <a:buSzPct val="100000"/>
              <a:buChar char="•"/>
            </a:pPr>
            <a:r>
              <a:rPr lang="en-US" sz="1400" dirty="0">
                <a:solidFill>
                  <a:schemeClr val="tx1"/>
                </a:solidFill>
              </a:rPr>
              <a:t>Processed data stored on Google Drive</a:t>
            </a:r>
            <a:endParaRPr lang="en-US" sz="1400" dirty="0"/>
          </a:p>
        </p:txBody>
      </p:sp>
      <p:sp>
        <p:nvSpPr>
          <p:cNvPr id="8" name="setup card 1"/>
          <p:cNvSpPr/>
          <p:nvPr/>
        </p:nvSpPr>
        <p:spPr>
          <a:xfrm>
            <a:off x="4297680" y="1417320"/>
            <a:ext cx="3566160" cy="3429000"/>
          </a:xfrm>
          <a:prstGeom prst="roundRect">
            <a:avLst>
              <a:gd name="adj" fmla="val 3200"/>
            </a:avLst>
          </a:prstGeom>
          <a:solidFill>
            <a:schemeClr val="bg2"/>
          </a:solidFill>
          <a:ln/>
        </p:spPr>
      </p:sp>
      <p:sp>
        <p:nvSpPr>
          <p:cNvPr id="9" name="setup Training recipe circle"/>
          <p:cNvSpPr/>
          <p:nvPr/>
        </p:nvSpPr>
        <p:spPr>
          <a:xfrm>
            <a:off x="4572000" y="1645920"/>
            <a:ext cx="640080" cy="640080"/>
          </a:xfrm>
          <a:prstGeom prst="ellipse">
            <a:avLst/>
          </a:prstGeom>
          <a:solidFill>
            <a:schemeClr val="accent1"/>
          </a:solidFill>
          <a:ln/>
        </p:spPr>
      </p:sp>
      <p:pic>
        <p:nvPicPr>
          <p:cNvPr id="10" name="setup Training recipe icon" descr="preencoded.png">    </p:cNvPr>
          <p:cNvPicPr>
            <a:picLocks noChangeAspect="1"/>
          </p:cNvPicPr>
          <p:nvPr/>
        </p:nvPicPr>
        <p:blipFill>
          <a:blip r:embed="rId2"/>
          <a:stretch>
            <a:fillRect/>
          </a:stretch>
        </p:blipFill>
        <p:spPr>
          <a:xfrm>
            <a:off x="4738421" y="1812341"/>
            <a:ext cx="307238" cy="307238"/>
          </a:xfrm>
          <a:prstGeom prst="rect">
            <a:avLst/>
          </a:prstGeom>
        </p:spPr>
      </p:pic>
      <p:sp>
        <p:nvSpPr>
          <p:cNvPr id="11" name="Text 7"/>
          <p:cNvSpPr txBox="1"/>
          <p:nvPr/>
        </p:nvSpPr>
        <p:spPr>
          <a:xfrm>
            <a:off x="5349240" y="164592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Training recipe</a:t>
            </a:r>
            <a:endParaRPr lang="en-US" sz="2000" dirty="0"/>
          </a:p>
        </p:txBody>
      </p:sp>
      <p:sp>
        <p:nvSpPr>
          <p:cNvPr id="12" name="Text 8"/>
          <p:cNvSpPr txBox="1"/>
          <p:nvPr/>
        </p:nvSpPr>
        <p:spPr>
          <a:xfrm>
            <a:off x="4572000" y="2514600"/>
            <a:ext cx="306324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AdamW, cosine schedule, mixed precision on a Colab T4</a:t>
            </a:r>
            <a:endParaRPr lang="en-US" sz="1400" dirty="0"/>
          </a:p>
          <a:p>
            <a:pPr marL="342900" indent="-342900">
              <a:spcAft>
                <a:spcPts val="600"/>
              </a:spcAft>
              <a:buSzPct val="100000"/>
              <a:buChar char="•"/>
            </a:pPr>
            <a:r>
              <a:rPr lang="en-US" sz="1400" dirty="0">
                <a:solidFill>
                  <a:schemeClr val="tx1"/>
                </a:solidFill>
              </a:rPr>
              <a:t>Backbone frozen in epoch 1; head learning rate 10×</a:t>
            </a:r>
            <a:endParaRPr lang="en-US" sz="1400" dirty="0"/>
          </a:p>
          <a:p>
            <a:pPr marL="342900" indent="-342900">
              <a:spcAft>
                <a:spcPts val="600"/>
              </a:spcAft>
              <a:buSzPct val="100000"/>
              <a:buChar char="•"/>
            </a:pPr>
            <a:r>
              <a:rPr lang="en-US" sz="1400" dirty="0">
                <a:solidFill>
                  <a:schemeClr val="tx1"/>
                </a:solidFill>
              </a:rPr>
              <a:t>SpecAugment for audio; class-balanced loss</a:t>
            </a:r>
            <a:endParaRPr lang="en-US" sz="1400" dirty="0"/>
          </a:p>
          <a:p>
            <a:pPr marL="342900" indent="-342900">
              <a:spcAft>
                <a:spcPts val="600"/>
              </a:spcAft>
              <a:buSzPct val="100000"/>
              <a:buChar char="•"/>
            </a:pPr>
            <a:r>
              <a:rPr lang="en-US" sz="1400" dirty="0">
                <a:solidFill>
                  <a:schemeClr val="tx1"/>
                </a:solidFill>
              </a:rPr>
              <a:t>Early stopping on validation AUC, resumable checkpoints</a:t>
            </a:r>
            <a:endParaRPr lang="en-US" sz="1400" dirty="0"/>
          </a:p>
        </p:txBody>
      </p:sp>
      <p:sp>
        <p:nvSpPr>
          <p:cNvPr id="13" name="setup card 2"/>
          <p:cNvSpPr/>
          <p:nvPr/>
        </p:nvSpPr>
        <p:spPr>
          <a:xfrm>
            <a:off x="8046720" y="1417320"/>
            <a:ext cx="3566160" cy="3429000"/>
          </a:xfrm>
          <a:prstGeom prst="roundRect">
            <a:avLst>
              <a:gd name="adj" fmla="val 3200"/>
            </a:avLst>
          </a:prstGeom>
          <a:solidFill>
            <a:schemeClr val="bg2"/>
          </a:solidFill>
          <a:ln/>
        </p:spPr>
      </p:sp>
      <p:sp>
        <p:nvSpPr>
          <p:cNvPr id="14" name="setup Evaluation protocol circle"/>
          <p:cNvSpPr/>
          <p:nvPr/>
        </p:nvSpPr>
        <p:spPr>
          <a:xfrm>
            <a:off x="8321040" y="1645920"/>
            <a:ext cx="640080" cy="640080"/>
          </a:xfrm>
          <a:prstGeom prst="ellipse">
            <a:avLst/>
          </a:prstGeom>
          <a:solidFill>
            <a:schemeClr val="accent1"/>
          </a:solidFill>
          <a:ln/>
        </p:spPr>
      </p:sp>
      <p:pic>
        <p:nvPicPr>
          <p:cNvPr id="15" name="setup Evaluation protocol icon" descr="preencoded.png">    </p:cNvPr>
          <p:cNvPicPr>
            <a:picLocks noChangeAspect="1"/>
          </p:cNvPicPr>
          <p:nvPr/>
        </p:nvPicPr>
        <p:blipFill>
          <a:blip r:embed="rId3"/>
          <a:stretch>
            <a:fillRect/>
          </a:stretch>
        </p:blipFill>
        <p:spPr>
          <a:xfrm>
            <a:off x="8487461" y="1812341"/>
            <a:ext cx="307238" cy="307238"/>
          </a:xfrm>
          <a:prstGeom prst="rect">
            <a:avLst/>
          </a:prstGeom>
        </p:spPr>
      </p:pic>
      <p:sp>
        <p:nvSpPr>
          <p:cNvPr id="16" name="Text 11"/>
          <p:cNvSpPr txBox="1"/>
          <p:nvPr/>
        </p:nvSpPr>
        <p:spPr>
          <a:xfrm>
            <a:off x="9098280" y="1645920"/>
            <a:ext cx="2377440" cy="640080"/>
          </a:xfrm>
          <a:prstGeom prst="rect">
            <a:avLst/>
          </a:prstGeom>
          <a:noFill/>
          <a:ln/>
        </p:spPr>
        <p:txBody>
          <a:bodyPr wrap="square" lIns="0" tIns="0" rIns="0" bIns="0" rtlCol="0" anchor="ctr"/>
          <a:lstStyle/>
          <a:p>
            <a:pPr indent="0" marL="0">
              <a:buNone/>
            </a:pPr>
            <a:r>
              <a:rPr lang="en-US" sz="2000" b="1" dirty="0">
                <a:solidFill>
                  <a:schemeClr val="tx1"/>
                </a:solidFill>
              </a:rPr>
              <a:t>Evaluation protocol</a:t>
            </a:r>
            <a:endParaRPr lang="en-US" sz="2000" dirty="0"/>
          </a:p>
        </p:txBody>
      </p:sp>
      <p:sp>
        <p:nvSpPr>
          <p:cNvPr id="17" name="Text 12"/>
          <p:cNvSpPr txBox="1"/>
          <p:nvPr/>
        </p:nvSpPr>
        <p:spPr>
          <a:xfrm>
            <a:off x="8321040" y="2514600"/>
            <a:ext cx="306324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Primary metric: AUC; also EER</a:t>
            </a:r>
            <a:endParaRPr lang="en-US" sz="1400" dirty="0"/>
          </a:p>
          <a:p>
            <a:pPr marL="342900" indent="-342900">
              <a:spcAft>
                <a:spcPts val="600"/>
              </a:spcAft>
              <a:buSzPct val="100000"/>
              <a:buChar char="•"/>
            </a:pPr>
            <a:r>
              <a:rPr lang="en-US" sz="1400" dirty="0">
                <a:solidFill>
                  <a:schemeClr val="tx1"/>
                </a:solidFill>
              </a:rPr>
              <a:t>Accuracy, precision, recall, F1 at threshold 0.5</a:t>
            </a:r>
            <a:endParaRPr lang="en-US" sz="1400" dirty="0"/>
          </a:p>
          <a:p>
            <a:pPr marL="342900" indent="-342900">
              <a:spcAft>
                <a:spcPts val="600"/>
              </a:spcAft>
              <a:buSzPct val="100000"/>
              <a:buChar char="•"/>
            </a:pPr>
            <a:r>
              <a:rPr lang="en-US" sz="1400" dirty="0">
                <a:solidFill>
                  <a:schemeClr val="tx1"/>
                </a:solidFill>
              </a:rPr>
              <a:t>Best checkpoint chosen on validation; test evaluated once</a:t>
            </a:r>
            <a:endParaRPr lang="en-US" sz="1400" dirty="0"/>
          </a:p>
          <a:p>
            <a:pPr marL="342900" indent="-342900">
              <a:spcAft>
                <a:spcPts val="600"/>
              </a:spcAft>
              <a:buSzPct val="100000"/>
              <a:buChar char="•"/>
            </a:pPr>
            <a:r>
              <a:rPr lang="en-US" sz="1400" dirty="0">
                <a:solidFill>
                  <a:schemeClr val="tx1"/>
                </a:solidFill>
              </a:rPr>
              <a:t>Per-category results (per attack system)</a:t>
            </a:r>
            <a:endParaRPr lang="en-US" sz="1400" dirty="0"/>
          </a:p>
        </p:txBody>
      </p:sp>
      <p:sp>
        <p:nvSpPr>
          <p:cNvPr id="18" name="Text 13"/>
          <p:cNvSpPr txBox="1"/>
          <p:nvPr/>
        </p:nvSpPr>
        <p:spPr>
          <a:xfrm>
            <a:off x="548640" y="5120640"/>
            <a:ext cx="2651760" cy="548640"/>
          </a:xfrm>
          <a:prstGeom prst="rect">
            <a:avLst/>
          </a:prstGeom>
          <a:noFill/>
          <a:ln/>
        </p:spPr>
        <p:txBody>
          <a:bodyPr wrap="square" lIns="0" tIns="0" rIns="0" bIns="0" rtlCol="0" anchor="t"/>
          <a:lstStyle/>
          <a:p>
            <a:pPr indent="0" marL="0">
              <a:buNone/>
            </a:pPr>
            <a:r>
              <a:rPr lang="en-US" sz="2600" b="1" dirty="0">
                <a:solidFill>
                  <a:schemeClr val="accent1"/>
                </a:solidFill>
              </a:rPr>
              <a:t>Colab T4 GPU</a:t>
            </a:r>
            <a:endParaRPr lang="en-US" sz="2600" dirty="0"/>
          </a:p>
        </p:txBody>
      </p:sp>
      <p:sp>
        <p:nvSpPr>
          <p:cNvPr id="19" name="Text 14"/>
          <p:cNvSpPr txBox="1"/>
          <p:nvPr/>
        </p:nvSpPr>
        <p:spPr>
          <a:xfrm>
            <a:off x="548640" y="566928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Hardware</a:t>
            </a:r>
            <a:endParaRPr lang="en-US" sz="1300" dirty="0"/>
          </a:p>
        </p:txBody>
      </p:sp>
      <p:sp>
        <p:nvSpPr>
          <p:cNvPr id="20" name="Text 15"/>
          <p:cNvSpPr txBox="1"/>
          <p:nvPr/>
        </p:nvSpPr>
        <p:spPr>
          <a:xfrm>
            <a:off x="3346704" y="5120640"/>
            <a:ext cx="2651760" cy="548640"/>
          </a:xfrm>
          <a:prstGeom prst="rect">
            <a:avLst/>
          </a:prstGeom>
          <a:noFill/>
          <a:ln/>
        </p:spPr>
        <p:txBody>
          <a:bodyPr wrap="square" lIns="0" tIns="0" rIns="0" bIns="0" rtlCol="0" anchor="t"/>
          <a:lstStyle/>
          <a:p>
            <a:pPr indent="0" marL="0">
              <a:buNone/>
            </a:pPr>
            <a:r>
              <a:rPr lang="en-US" sz="2600" b="1" dirty="0">
                <a:solidFill>
                  <a:schemeClr val="accent1"/>
                </a:solidFill>
              </a:rPr>
              <a:t>≈ 2.6 min</a:t>
            </a:r>
            <a:endParaRPr lang="en-US" sz="2600" dirty="0"/>
          </a:p>
        </p:txBody>
      </p:sp>
      <p:sp>
        <p:nvSpPr>
          <p:cNvPr id="21" name="Text 16"/>
          <p:cNvSpPr txBox="1"/>
          <p:nvPr/>
        </p:nvSpPr>
        <p:spPr>
          <a:xfrm>
            <a:off x="3346704" y="566928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Time per epoch</a:t>
            </a:r>
            <a:endParaRPr lang="en-US" sz="1300" dirty="0"/>
          </a:p>
        </p:txBody>
      </p:sp>
      <p:sp>
        <p:nvSpPr>
          <p:cNvPr id="22" name="Text 17"/>
          <p:cNvSpPr txBox="1"/>
          <p:nvPr/>
        </p:nvSpPr>
        <p:spPr>
          <a:xfrm>
            <a:off x="6144768" y="5120640"/>
            <a:ext cx="2651760" cy="548640"/>
          </a:xfrm>
          <a:prstGeom prst="rect">
            <a:avLst/>
          </a:prstGeom>
          <a:noFill/>
          <a:ln/>
        </p:spPr>
        <p:txBody>
          <a:bodyPr wrap="square" lIns="0" tIns="0" rIns="0" bIns="0" rtlCol="0" anchor="t"/>
          <a:lstStyle/>
          <a:p>
            <a:pPr indent="0" marL="0">
              <a:buNone/>
            </a:pPr>
            <a:r>
              <a:rPr lang="en-US" sz="2600" b="1" dirty="0">
                <a:solidFill>
                  <a:schemeClr val="accent1"/>
                </a:solidFill>
              </a:rPr>
              <a:t>6 of max 15</a:t>
            </a:r>
            <a:endParaRPr lang="en-US" sz="2600" dirty="0"/>
          </a:p>
        </p:txBody>
      </p:sp>
      <p:sp>
        <p:nvSpPr>
          <p:cNvPr id="23" name="Text 18"/>
          <p:cNvSpPr txBox="1"/>
          <p:nvPr/>
        </p:nvSpPr>
        <p:spPr>
          <a:xfrm>
            <a:off x="6144768" y="566928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Epochs run</a:t>
            </a:r>
            <a:endParaRPr lang="en-US" sz="1300" dirty="0"/>
          </a:p>
        </p:txBody>
      </p:sp>
      <p:sp>
        <p:nvSpPr>
          <p:cNvPr id="24" name="Text 19"/>
          <p:cNvSpPr txBox="1"/>
          <p:nvPr/>
        </p:nvSpPr>
        <p:spPr>
          <a:xfrm>
            <a:off x="8942832" y="5120640"/>
            <a:ext cx="2651760" cy="548640"/>
          </a:xfrm>
          <a:prstGeom prst="rect">
            <a:avLst/>
          </a:prstGeom>
          <a:noFill/>
          <a:ln/>
        </p:spPr>
        <p:txBody>
          <a:bodyPr wrap="square" lIns="0" tIns="0" rIns="0" bIns="0" rtlCol="0" anchor="t"/>
          <a:lstStyle/>
          <a:p>
            <a:pPr indent="0" marL="0">
              <a:buNone/>
            </a:pPr>
            <a:r>
              <a:rPr lang="en-US" sz="2600" b="1" dirty="0">
                <a:solidFill>
                  <a:schemeClr val="accent1"/>
                </a:solidFill>
              </a:rPr>
              <a:t>32 · 1e-4</a:t>
            </a:r>
            <a:endParaRPr lang="en-US" sz="2600" dirty="0"/>
          </a:p>
        </p:txBody>
      </p:sp>
      <p:sp>
        <p:nvSpPr>
          <p:cNvPr id="25" name="Text 20"/>
          <p:cNvSpPr txBox="1"/>
          <p:nvPr/>
        </p:nvSpPr>
        <p:spPr>
          <a:xfrm>
            <a:off x="8942832" y="5669280"/>
            <a:ext cx="2651760" cy="320040"/>
          </a:xfrm>
          <a:prstGeom prst="rect">
            <a:avLst/>
          </a:prstGeom>
          <a:noFill/>
          <a:ln/>
        </p:spPr>
        <p:txBody>
          <a:bodyPr wrap="square" lIns="0" tIns="0" rIns="0" bIns="0" rtlCol="0" anchor="t"/>
          <a:lstStyle/>
          <a:p>
            <a:pPr indent="0" marL="0">
              <a:buNone/>
            </a:pPr>
            <a:r>
              <a:rPr lang="en-US" sz="1300" dirty="0">
                <a:solidFill>
                  <a:schemeClr val="accent5"/>
                </a:solidFill>
              </a:rPr>
              <a:t>Batch · learning rate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Voice model: AUC 0.977 and EER 6.2% on the test set</a:t>
            </a:r>
            <a:endParaRPr lang="en-US" sz="3200" dirty="0"/>
          </a:p>
        </p:txBody>
      </p:sp>
      <p:sp>
        <p:nvSpPr>
          <p:cNvPr id="3" name="stat card 0"/>
          <p:cNvSpPr/>
          <p:nvPr/>
        </p:nvSpPr>
        <p:spPr>
          <a:xfrm>
            <a:off x="548640" y="1371600"/>
            <a:ext cx="2697480" cy="1417320"/>
          </a:xfrm>
          <a:prstGeom prst="roundRect">
            <a:avLst>
              <a:gd name="adj" fmla="val 7742"/>
            </a:avLst>
          </a:prstGeom>
          <a:solidFill>
            <a:schemeClr val="bg2"/>
          </a:solidFill>
          <a:ln/>
        </p:spPr>
      </p:sp>
      <p:sp>
        <p:nvSpPr>
          <p:cNvPr id="4" name="Text 2"/>
          <p:cNvSpPr txBox="1"/>
          <p:nvPr/>
        </p:nvSpPr>
        <p:spPr>
          <a:xfrm>
            <a:off x="777240" y="1481328"/>
            <a:ext cx="2286000" cy="640080"/>
          </a:xfrm>
          <a:prstGeom prst="rect">
            <a:avLst/>
          </a:prstGeom>
          <a:noFill/>
          <a:ln/>
        </p:spPr>
        <p:txBody>
          <a:bodyPr wrap="square" lIns="0" tIns="0" rIns="0" bIns="0" rtlCol="0" anchor="t"/>
          <a:lstStyle/>
          <a:p>
            <a:pPr indent="0" marL="0">
              <a:buNone/>
            </a:pPr>
            <a:r>
              <a:rPr lang="en-US" sz="3600" b="1" dirty="0">
                <a:solidFill>
                  <a:schemeClr val="accent1"/>
                </a:solidFill>
              </a:rPr>
              <a:t>0.977</a:t>
            </a:r>
            <a:endParaRPr lang="en-US" sz="3600" dirty="0"/>
          </a:p>
        </p:txBody>
      </p:sp>
      <p:sp>
        <p:nvSpPr>
          <p:cNvPr id="5" name="Text 3"/>
          <p:cNvSpPr txBox="1"/>
          <p:nvPr/>
        </p:nvSpPr>
        <p:spPr>
          <a:xfrm>
            <a:off x="777240" y="2121408"/>
            <a:ext cx="2286000" cy="292608"/>
          </a:xfrm>
          <a:prstGeom prst="rect">
            <a:avLst/>
          </a:prstGeom>
          <a:noFill/>
          <a:ln/>
        </p:spPr>
        <p:txBody>
          <a:bodyPr wrap="square" lIns="0" tIns="0" rIns="0" bIns="0" rtlCol="0" anchor="t"/>
          <a:lstStyle/>
          <a:p>
            <a:pPr indent="0" marL="0">
              <a:buNone/>
            </a:pPr>
            <a:r>
              <a:rPr lang="en-US" sz="1400" b="1" dirty="0">
                <a:solidFill>
                  <a:schemeClr val="tx1"/>
                </a:solidFill>
              </a:rPr>
              <a:t>Test AUC</a:t>
            </a:r>
            <a:endParaRPr lang="en-US" sz="1400" dirty="0"/>
          </a:p>
        </p:txBody>
      </p:sp>
      <p:sp>
        <p:nvSpPr>
          <p:cNvPr id="6" name="Text 4"/>
          <p:cNvSpPr txBox="1"/>
          <p:nvPr/>
        </p:nvSpPr>
        <p:spPr>
          <a:xfrm>
            <a:off x="777240" y="2414016"/>
            <a:ext cx="2377440" cy="274320"/>
          </a:xfrm>
          <a:prstGeom prst="rect">
            <a:avLst/>
          </a:prstGeom>
          <a:noFill/>
          <a:ln/>
        </p:spPr>
        <p:txBody>
          <a:bodyPr wrap="square" lIns="0" tIns="0" rIns="0" bIns="0" rtlCol="0" anchor="t"/>
          <a:lstStyle/>
          <a:p>
            <a:pPr indent="0" marL="0">
              <a:buNone/>
            </a:pPr>
            <a:r>
              <a:rPr lang="en-US" sz="1100" dirty="0">
                <a:solidFill>
                  <a:schemeClr val="accent5"/>
                </a:solidFill>
              </a:rPr>
              <a:t>ranking quality, 1.0 = perfect</a:t>
            </a:r>
            <a:endParaRPr lang="en-US" sz="1100" dirty="0"/>
          </a:p>
        </p:txBody>
      </p:sp>
      <p:sp>
        <p:nvSpPr>
          <p:cNvPr id="7" name="stat card 1"/>
          <p:cNvSpPr/>
          <p:nvPr/>
        </p:nvSpPr>
        <p:spPr>
          <a:xfrm>
            <a:off x="3383280" y="1371600"/>
            <a:ext cx="2697480" cy="1417320"/>
          </a:xfrm>
          <a:prstGeom prst="roundRect">
            <a:avLst>
              <a:gd name="adj" fmla="val 7742"/>
            </a:avLst>
          </a:prstGeom>
          <a:solidFill>
            <a:schemeClr val="bg2"/>
          </a:solidFill>
          <a:ln/>
        </p:spPr>
      </p:sp>
      <p:sp>
        <p:nvSpPr>
          <p:cNvPr id="8" name="Text 6"/>
          <p:cNvSpPr txBox="1"/>
          <p:nvPr/>
        </p:nvSpPr>
        <p:spPr>
          <a:xfrm>
            <a:off x="3611880" y="1481328"/>
            <a:ext cx="2286000" cy="640080"/>
          </a:xfrm>
          <a:prstGeom prst="rect">
            <a:avLst/>
          </a:prstGeom>
          <a:noFill/>
          <a:ln/>
        </p:spPr>
        <p:txBody>
          <a:bodyPr wrap="square" lIns="0" tIns="0" rIns="0" bIns="0" rtlCol="0" anchor="t"/>
          <a:lstStyle/>
          <a:p>
            <a:pPr indent="0" marL="0">
              <a:buNone/>
            </a:pPr>
            <a:r>
              <a:rPr lang="en-US" sz="3600" b="1" dirty="0">
                <a:solidFill>
                  <a:schemeClr val="accent1"/>
                </a:solidFill>
              </a:rPr>
              <a:t>6.2%</a:t>
            </a:r>
            <a:endParaRPr lang="en-US" sz="3600" dirty="0"/>
          </a:p>
        </p:txBody>
      </p:sp>
      <p:sp>
        <p:nvSpPr>
          <p:cNvPr id="9" name="Text 7"/>
          <p:cNvSpPr txBox="1"/>
          <p:nvPr/>
        </p:nvSpPr>
        <p:spPr>
          <a:xfrm>
            <a:off x="3611880" y="2121408"/>
            <a:ext cx="2286000" cy="292608"/>
          </a:xfrm>
          <a:prstGeom prst="rect">
            <a:avLst/>
          </a:prstGeom>
          <a:noFill/>
          <a:ln/>
        </p:spPr>
        <p:txBody>
          <a:bodyPr wrap="square" lIns="0" tIns="0" rIns="0" bIns="0" rtlCol="0" anchor="t"/>
          <a:lstStyle/>
          <a:p>
            <a:pPr indent="0" marL="0">
              <a:buNone/>
            </a:pPr>
            <a:r>
              <a:rPr lang="en-US" sz="1400" b="1" dirty="0">
                <a:solidFill>
                  <a:schemeClr val="tx1"/>
                </a:solidFill>
              </a:rPr>
              <a:t>Equal error rate</a:t>
            </a:r>
            <a:endParaRPr lang="en-US" sz="1400" dirty="0"/>
          </a:p>
        </p:txBody>
      </p:sp>
      <p:sp>
        <p:nvSpPr>
          <p:cNvPr id="10" name="Text 8"/>
          <p:cNvSpPr txBox="1"/>
          <p:nvPr/>
        </p:nvSpPr>
        <p:spPr>
          <a:xfrm>
            <a:off x="3611880" y="2414016"/>
            <a:ext cx="2377440" cy="274320"/>
          </a:xfrm>
          <a:prstGeom prst="rect">
            <a:avLst/>
          </a:prstGeom>
          <a:noFill/>
          <a:ln/>
        </p:spPr>
        <p:txBody>
          <a:bodyPr wrap="square" lIns="0" tIns="0" rIns="0" bIns="0" rtlCol="0" anchor="t"/>
          <a:lstStyle/>
          <a:p>
            <a:pPr indent="0" marL="0">
              <a:buNone/>
            </a:pPr>
            <a:r>
              <a:rPr lang="en-US" sz="1100" dirty="0">
                <a:solidFill>
                  <a:schemeClr val="accent5"/>
                </a:solidFill>
              </a:rPr>
              <a:t>lower is better</a:t>
            </a:r>
            <a:endParaRPr lang="en-US" sz="1100" dirty="0"/>
          </a:p>
        </p:txBody>
      </p:sp>
      <p:sp>
        <p:nvSpPr>
          <p:cNvPr id="11" name="stat card 2"/>
          <p:cNvSpPr/>
          <p:nvPr/>
        </p:nvSpPr>
        <p:spPr>
          <a:xfrm>
            <a:off x="548640" y="2926080"/>
            <a:ext cx="2697480" cy="1417320"/>
          </a:xfrm>
          <a:prstGeom prst="roundRect">
            <a:avLst>
              <a:gd name="adj" fmla="val 7742"/>
            </a:avLst>
          </a:prstGeom>
          <a:solidFill>
            <a:schemeClr val="bg2"/>
          </a:solidFill>
          <a:ln/>
        </p:spPr>
      </p:sp>
      <p:sp>
        <p:nvSpPr>
          <p:cNvPr id="12" name="Text 10"/>
          <p:cNvSpPr txBox="1"/>
          <p:nvPr/>
        </p:nvSpPr>
        <p:spPr>
          <a:xfrm>
            <a:off x="777240" y="3035808"/>
            <a:ext cx="2286000" cy="640080"/>
          </a:xfrm>
          <a:prstGeom prst="rect">
            <a:avLst/>
          </a:prstGeom>
          <a:noFill/>
          <a:ln/>
        </p:spPr>
        <p:txBody>
          <a:bodyPr wrap="square" lIns="0" tIns="0" rIns="0" bIns="0" rtlCol="0" anchor="t"/>
          <a:lstStyle/>
          <a:p>
            <a:pPr indent="0" marL="0">
              <a:buNone/>
            </a:pPr>
            <a:r>
              <a:rPr lang="en-US" sz="3600" b="1" dirty="0">
                <a:solidFill>
                  <a:schemeClr val="tx1"/>
                </a:solidFill>
              </a:rPr>
              <a:t>91.2%</a:t>
            </a:r>
            <a:endParaRPr lang="en-US" sz="3600" dirty="0"/>
          </a:p>
        </p:txBody>
      </p:sp>
      <p:sp>
        <p:nvSpPr>
          <p:cNvPr id="13" name="Text 11"/>
          <p:cNvSpPr txBox="1"/>
          <p:nvPr/>
        </p:nvSpPr>
        <p:spPr>
          <a:xfrm>
            <a:off x="777240" y="3675888"/>
            <a:ext cx="2286000" cy="292608"/>
          </a:xfrm>
          <a:prstGeom prst="rect">
            <a:avLst/>
          </a:prstGeom>
          <a:noFill/>
          <a:ln/>
        </p:spPr>
        <p:txBody>
          <a:bodyPr wrap="square" lIns="0" tIns="0" rIns="0" bIns="0" rtlCol="0" anchor="t"/>
          <a:lstStyle/>
          <a:p>
            <a:pPr indent="0" marL="0">
              <a:buNone/>
            </a:pPr>
            <a:r>
              <a:rPr lang="en-US" sz="1400" b="1" dirty="0">
                <a:solidFill>
                  <a:schemeClr val="tx1"/>
                </a:solidFill>
              </a:rPr>
              <a:t>Accuracy at 0.5</a:t>
            </a:r>
            <a:endParaRPr lang="en-US" sz="1400" dirty="0"/>
          </a:p>
        </p:txBody>
      </p:sp>
      <p:sp>
        <p:nvSpPr>
          <p:cNvPr id="14" name="Text 12"/>
          <p:cNvSpPr txBox="1"/>
          <p:nvPr/>
        </p:nvSpPr>
        <p:spPr>
          <a:xfrm>
            <a:off x="777240" y="3968496"/>
            <a:ext cx="2377440" cy="274320"/>
          </a:xfrm>
          <a:prstGeom prst="rect">
            <a:avLst/>
          </a:prstGeom>
          <a:noFill/>
          <a:ln/>
        </p:spPr>
        <p:txBody>
          <a:bodyPr wrap="square" lIns="0" tIns="0" rIns="0" bIns="0" rtlCol="0" anchor="t"/>
          <a:lstStyle/>
          <a:p>
            <a:pPr indent="0" marL="0">
              <a:buNone/>
            </a:pPr>
            <a:r>
              <a:rPr lang="en-US" sz="1100" dirty="0">
                <a:solidFill>
                  <a:schemeClr val="accent5"/>
                </a:solidFill>
              </a:rPr>
              <a:t>precision 0.991 · recall 0.832</a:t>
            </a:r>
            <a:endParaRPr lang="en-US" sz="1100" dirty="0"/>
          </a:p>
        </p:txBody>
      </p:sp>
      <p:sp>
        <p:nvSpPr>
          <p:cNvPr id="15" name="stat card 3"/>
          <p:cNvSpPr/>
          <p:nvPr/>
        </p:nvSpPr>
        <p:spPr>
          <a:xfrm>
            <a:off x="3383280" y="2926080"/>
            <a:ext cx="2697480" cy="1417320"/>
          </a:xfrm>
          <a:prstGeom prst="roundRect">
            <a:avLst>
              <a:gd name="adj" fmla="val 7742"/>
            </a:avLst>
          </a:prstGeom>
          <a:solidFill>
            <a:schemeClr val="bg2"/>
          </a:solidFill>
          <a:ln/>
        </p:spPr>
      </p:sp>
      <p:sp>
        <p:nvSpPr>
          <p:cNvPr id="16" name="Text 14"/>
          <p:cNvSpPr txBox="1"/>
          <p:nvPr/>
        </p:nvSpPr>
        <p:spPr>
          <a:xfrm>
            <a:off x="3611880" y="3035808"/>
            <a:ext cx="2286000" cy="640080"/>
          </a:xfrm>
          <a:prstGeom prst="rect">
            <a:avLst/>
          </a:prstGeom>
          <a:noFill/>
          <a:ln/>
        </p:spPr>
        <p:txBody>
          <a:bodyPr wrap="square" lIns="0" tIns="0" rIns="0" bIns="0" rtlCol="0" anchor="t"/>
          <a:lstStyle/>
          <a:p>
            <a:pPr indent="0" marL="0">
              <a:buNone/>
            </a:pPr>
            <a:r>
              <a:rPr lang="en-US" sz="3600" b="1" dirty="0">
                <a:solidFill>
                  <a:schemeClr val="tx1"/>
                </a:solidFill>
              </a:rPr>
              <a:t>93.8%</a:t>
            </a:r>
            <a:endParaRPr lang="en-US" sz="3600" dirty="0"/>
          </a:p>
        </p:txBody>
      </p:sp>
      <p:sp>
        <p:nvSpPr>
          <p:cNvPr id="17" name="Text 15"/>
          <p:cNvSpPr txBox="1"/>
          <p:nvPr/>
        </p:nvSpPr>
        <p:spPr>
          <a:xfrm>
            <a:off x="3611880" y="3675888"/>
            <a:ext cx="2286000" cy="292608"/>
          </a:xfrm>
          <a:prstGeom prst="rect">
            <a:avLst/>
          </a:prstGeom>
          <a:noFill/>
          <a:ln/>
        </p:spPr>
        <p:txBody>
          <a:bodyPr wrap="square" lIns="0" tIns="0" rIns="0" bIns="0" rtlCol="0" anchor="t"/>
          <a:lstStyle/>
          <a:p>
            <a:pPr indent="0" marL="0">
              <a:buNone/>
            </a:pPr>
            <a:r>
              <a:rPr lang="en-US" sz="1400" b="1" dirty="0">
                <a:solidFill>
                  <a:schemeClr val="tx1"/>
                </a:solidFill>
              </a:rPr>
              <a:t>Accuracy at EER threshold</a:t>
            </a:r>
            <a:endParaRPr lang="en-US" sz="1400" dirty="0"/>
          </a:p>
        </p:txBody>
      </p:sp>
      <p:sp>
        <p:nvSpPr>
          <p:cNvPr id="18" name="Text 16"/>
          <p:cNvSpPr txBox="1"/>
          <p:nvPr/>
        </p:nvSpPr>
        <p:spPr>
          <a:xfrm>
            <a:off x="3611880" y="3968496"/>
            <a:ext cx="2377440" cy="274320"/>
          </a:xfrm>
          <a:prstGeom prst="rect">
            <a:avLst/>
          </a:prstGeom>
          <a:noFill/>
          <a:ln/>
        </p:spPr>
        <p:txBody>
          <a:bodyPr wrap="square" lIns="0" tIns="0" rIns="0" bIns="0" rtlCol="0" anchor="t"/>
          <a:lstStyle/>
          <a:p>
            <a:pPr indent="0" marL="0">
              <a:buNone/>
            </a:pPr>
            <a:r>
              <a:rPr lang="en-US" sz="1100" dirty="0">
                <a:solidFill>
                  <a:schemeClr val="accent5"/>
                </a:solidFill>
              </a:rPr>
              <a:t>threshold 0.0102</a:t>
            </a:r>
            <a:endParaRPr lang="en-US" sz="1100" dirty="0"/>
          </a:p>
        </p:txBody>
      </p:sp>
      <p:graphicFrame>
        <p:nvGraphicFramePr>
          <p:cNvPr id="9" name="confusion matrix"/>
          <p:cNvGraphicFramePr>
            <a:graphicFrameLocks noGrp="1"/>
          </p:cNvGraphicFramePr>
          <p:nvPr>
            <p:extLst>
              <p:ext uri="{D42A27DB-BD31-4B8C-83A1-F6EECF244321}">
                <p14:modId xmlns:p14="http://schemas.microsoft.com/office/powerpoint/2010/main" val="1579011935"/>
              </p:ext>
            </p:extLst>
          </p:nvPr>
        </p:nvGraphicFramePr>
        <p:xfrm>
          <a:off x="548640" y="4572000"/>
          <a:ext cx="5532120" cy="914400"/>
        </p:xfrm>
        <a:graphic>
          <a:graphicData uri="http://schemas.openxmlformats.org/drawingml/2006/table">
            <a:tbl>
              <a:tblPr/>
              <a:tblGrid>
                <a:gridCol w="1691640"/>
                <a:gridCol w="1920240"/>
                <a:gridCol w="1920240"/>
              </a:tblGrid>
              <a:tr h="384048">
                <a:tc>
                  <a:txBody>
                    <a:bodyPr/>
                    <a:lstStyle/>
                    <a:p>
                      <a:pPr algn="ctr" indent="0" marL="0">
                        <a:buNone/>
                      </a:pP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Predicted real</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Predicted fake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384048">
                <a:tc>
                  <a:txBody>
                    <a:bodyPr/>
                    <a:lstStyle/>
                    <a:p>
                      <a:pPr algn="ctr" indent="0" marL="0">
                        <a:buNone/>
                      </a:pPr>
                      <a:r>
                        <a:rPr lang="en-US" sz="1400" b="1" dirty="0">
                          <a:solidFill>
                            <a:schemeClr val="tx1"/>
                          </a:solidFill>
                        </a:rPr>
                        <a:t>Actually real</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2,481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c>
                  <a:txBody>
                    <a:bodyPr/>
                    <a:lstStyle/>
                    <a:p>
                      <a:pPr algn="ctr" indent="0" marL="0">
                        <a:buNone/>
                      </a:pPr>
                      <a:r>
                        <a:rPr lang="en-US" sz="1400" b="1" dirty="0">
                          <a:solidFill>
                            <a:schemeClr val="tx1"/>
                          </a:solidFill>
                        </a:rPr>
                        <a:t>19</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r>
              <a:tr h="384048">
                <a:tc>
                  <a:txBody>
                    <a:bodyPr/>
                    <a:lstStyle/>
                    <a:p>
                      <a:pPr algn="ctr" indent="0" marL="0">
                        <a:buNone/>
                      </a:pPr>
                      <a:r>
                        <a:rPr lang="en-US" sz="1400" b="1" dirty="0">
                          <a:solidFill>
                            <a:schemeClr val="tx1"/>
                          </a:solidFill>
                        </a:rPr>
                        <a:t>Actually fake</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419</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EE2E2"/>
                    </a:solidFill>
                  </a:tcPr>
                </a:tc>
                <a:tc>
                  <a:txBody>
                    <a:bodyPr/>
                    <a:lstStyle/>
                    <a:p>
                      <a:pPr algn="ctr" indent="0" marL="0">
                        <a:buNone/>
                      </a:pPr>
                      <a:r>
                        <a:rPr lang="en-US" sz="1400" b="1" dirty="0">
                          <a:solidFill>
                            <a:schemeClr val="tx1"/>
                          </a:solidFill>
                        </a:rPr>
                        <a:t>2,081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FCE7"/>
                    </a:solidFill>
                  </a:tcPr>
                </a:tc>
              </a:tr>
            </a:tbl>
          </a:graphicData>
        </a:graphic>
      </p:graphicFrame>
      <p:sp>
        <p:nvSpPr>
          <p:cNvPr id="20" name="Text 17"/>
          <p:cNvSpPr txBox="1"/>
          <p:nvPr/>
        </p:nvSpPr>
        <p:spPr>
          <a:xfrm>
            <a:off x="548640" y="5788152"/>
            <a:ext cx="5486400" cy="274320"/>
          </a:xfrm>
          <a:prstGeom prst="rect">
            <a:avLst/>
          </a:prstGeom>
          <a:noFill/>
          <a:ln/>
        </p:spPr>
        <p:txBody>
          <a:bodyPr wrap="square" lIns="0" tIns="0" rIns="0" bIns="0" rtlCol="0" anchor="t"/>
          <a:lstStyle/>
          <a:p>
            <a:pPr indent="0" marL="0">
              <a:buNone/>
            </a:pPr>
            <a:r>
              <a:rPr lang="en-US" sz="1100" dirty="0">
                <a:solidFill>
                  <a:schemeClr val="accent5"/>
                </a:solidFill>
              </a:rPr>
              <a:t>n = 5,000 test clips; threshold 0.5</a:t>
            </a:r>
            <a:endParaRPr lang="en-US" sz="1100" dirty="0"/>
          </a:p>
        </p:txBody>
      </p:sp>
      <p:graphicFrame>
        <p:nvGraphicFramePr>
          <p:cNvPr id="21" name="roc chart" descr=""/>
          <p:cNvGraphicFramePr/>
          <p:nvPr/>
        </p:nvGraphicFramePr>
        <p:xfrm>
          <a:off x="6400800" y="1325880"/>
          <a:ext cx="525780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Most unseen attacks are caught; A17 slips through</a:t>
            </a:r>
            <a:endParaRPr lang="en-US" sz="3200" dirty="0"/>
          </a:p>
        </p:txBody>
      </p:sp>
      <p:graphicFrame>
        <p:nvGraphicFramePr>
          <p:cNvPr id="3" name="per attack chart" descr=""/>
          <p:cNvGraphicFramePr/>
          <p:nvPr/>
        </p:nvGraphicFramePr>
        <p:xfrm>
          <a:off x="548640" y="1325880"/>
          <a:ext cx="7223760" cy="4800600"/>
        </p:xfrm>
        <a:graphic xmlns:a="http://schemas.openxmlformats.org/drawingml/2006/main">
          <a:graphicData uri="http://schemas.openxmlformats.org/drawingml/2006/chart">
            <c:chart xmlns:c="http://schemas.openxmlformats.org/drawingml/2006/chart" r:id="rId1"/>
          </a:graphicData>
        </a:graphic>
      </p:graphicFrame>
      <p:sp>
        <p:nvSpPr>
          <p:cNvPr id="4" name="attack fact 0 circle"/>
          <p:cNvSpPr/>
          <p:nvPr/>
        </p:nvSpPr>
        <p:spPr>
          <a:xfrm>
            <a:off x="8092440" y="1417320"/>
            <a:ext cx="548640" cy="548640"/>
          </a:xfrm>
          <a:prstGeom prst="ellipse">
            <a:avLst/>
          </a:prstGeom>
          <a:solidFill>
            <a:schemeClr val="accent3"/>
          </a:solidFill>
          <a:ln/>
        </p:spPr>
      </p:sp>
      <p:pic>
        <p:nvPicPr>
          <p:cNvPr id="5" name="attack fact 0 icon" descr="preencoded.png">    </p:cNvPr>
          <p:cNvPicPr>
            <a:picLocks noChangeAspect="1"/>
          </p:cNvPicPr>
          <p:nvPr/>
        </p:nvPicPr>
        <p:blipFill>
          <a:blip r:embed="rId2"/>
          <a:stretch>
            <a:fillRect/>
          </a:stretch>
        </p:blipFill>
        <p:spPr>
          <a:xfrm>
            <a:off x="8235086" y="1559966"/>
            <a:ext cx="263347" cy="263347"/>
          </a:xfrm>
          <a:prstGeom prst="rect">
            <a:avLst/>
          </a:prstGeom>
        </p:spPr>
      </p:pic>
      <p:sp>
        <p:nvSpPr>
          <p:cNvPr id="6" name="Text 2"/>
          <p:cNvSpPr txBox="1"/>
          <p:nvPr/>
        </p:nvSpPr>
        <p:spPr>
          <a:xfrm>
            <a:off x="8778240" y="1371600"/>
            <a:ext cx="2880360" cy="320040"/>
          </a:xfrm>
          <a:prstGeom prst="rect">
            <a:avLst/>
          </a:prstGeom>
          <a:noFill/>
          <a:ln/>
        </p:spPr>
        <p:txBody>
          <a:bodyPr wrap="square" lIns="0" tIns="0" rIns="0" bIns="0" rtlCol="0" anchor="t"/>
          <a:lstStyle/>
          <a:p>
            <a:pPr indent="0" marL="0">
              <a:buNone/>
            </a:pPr>
            <a:r>
              <a:rPr lang="en-US" sz="1500" b="1" dirty="0">
                <a:solidFill>
                  <a:schemeClr val="tx1"/>
                </a:solidFill>
              </a:rPr>
              <a:t>8 of 13 attack systems</a:t>
            </a:r>
            <a:endParaRPr lang="en-US" sz="1500" dirty="0"/>
          </a:p>
        </p:txBody>
      </p:sp>
      <p:sp>
        <p:nvSpPr>
          <p:cNvPr id="7" name="Text 3"/>
          <p:cNvSpPr txBox="1"/>
          <p:nvPr/>
        </p:nvSpPr>
        <p:spPr>
          <a:xfrm>
            <a:off x="8778240" y="1719072"/>
            <a:ext cx="2880360" cy="777240"/>
          </a:xfrm>
          <a:prstGeom prst="rect">
            <a:avLst/>
          </a:prstGeom>
          <a:noFill/>
          <a:ln/>
        </p:spPr>
        <p:txBody>
          <a:bodyPr wrap="square" lIns="0" tIns="0" rIns="0" bIns="0" rtlCol="0" anchor="t"/>
          <a:lstStyle/>
          <a:p>
            <a:pPr indent="0" marL="0">
              <a:buNone/>
            </a:pPr>
            <a:r>
              <a:rPr lang="en-US" sz="1300" dirty="0">
                <a:solidFill>
                  <a:schemeClr val="accent5"/>
                </a:solidFill>
              </a:rPr>
              <a:t>94% or more detected, AUC ≥ 0.997</a:t>
            </a:r>
            <a:endParaRPr lang="en-US" sz="1300" dirty="0"/>
          </a:p>
        </p:txBody>
      </p:sp>
      <p:sp>
        <p:nvSpPr>
          <p:cNvPr id="8" name="attack fact 1 circle"/>
          <p:cNvSpPr/>
          <p:nvPr/>
        </p:nvSpPr>
        <p:spPr>
          <a:xfrm>
            <a:off x="8092440" y="2606040"/>
            <a:ext cx="548640" cy="548640"/>
          </a:xfrm>
          <a:prstGeom prst="ellipse">
            <a:avLst/>
          </a:prstGeom>
          <a:solidFill>
            <a:schemeClr val="accent4"/>
          </a:solidFill>
          <a:ln/>
        </p:spPr>
      </p:sp>
      <p:pic>
        <p:nvPicPr>
          <p:cNvPr id="9" name="attack fact 1 icon" descr="preencoded.png">    </p:cNvPr>
          <p:cNvPicPr>
            <a:picLocks noChangeAspect="1"/>
          </p:cNvPicPr>
          <p:nvPr/>
        </p:nvPicPr>
        <p:blipFill>
          <a:blip r:embed="rId3"/>
          <a:stretch>
            <a:fillRect/>
          </a:stretch>
        </p:blipFill>
        <p:spPr>
          <a:xfrm>
            <a:off x="8235086" y="2748686"/>
            <a:ext cx="263347" cy="263347"/>
          </a:xfrm>
          <a:prstGeom prst="rect">
            <a:avLst/>
          </a:prstGeom>
        </p:spPr>
      </p:pic>
      <p:sp>
        <p:nvSpPr>
          <p:cNvPr id="10" name="Text 5"/>
          <p:cNvSpPr txBox="1"/>
          <p:nvPr/>
        </p:nvSpPr>
        <p:spPr>
          <a:xfrm>
            <a:off x="8778240" y="2560320"/>
            <a:ext cx="2880360" cy="320040"/>
          </a:xfrm>
          <a:prstGeom prst="rect">
            <a:avLst/>
          </a:prstGeom>
          <a:noFill/>
          <a:ln/>
        </p:spPr>
        <p:txBody>
          <a:bodyPr wrap="square" lIns="0" tIns="0" rIns="0" bIns="0" rtlCol="0" anchor="t"/>
          <a:lstStyle/>
          <a:p>
            <a:pPr indent="0" marL="0">
              <a:buNone/>
            </a:pPr>
            <a:r>
              <a:rPr lang="en-US" sz="1500" b="1" dirty="0">
                <a:solidFill>
                  <a:schemeClr val="tx1"/>
                </a:solidFill>
              </a:rPr>
              <a:t>A10, A12, A13, A18</a:t>
            </a:r>
            <a:endParaRPr lang="en-US" sz="1500" dirty="0"/>
          </a:p>
        </p:txBody>
      </p:sp>
      <p:sp>
        <p:nvSpPr>
          <p:cNvPr id="11" name="Text 6"/>
          <p:cNvSpPr txBox="1"/>
          <p:nvPr/>
        </p:nvSpPr>
        <p:spPr>
          <a:xfrm>
            <a:off x="8778240" y="2907792"/>
            <a:ext cx="2880360" cy="777240"/>
          </a:xfrm>
          <a:prstGeom prst="rect">
            <a:avLst/>
          </a:prstGeom>
          <a:noFill/>
          <a:ln/>
        </p:spPr>
        <p:txBody>
          <a:bodyPr wrap="square" lIns="0" tIns="0" rIns="0" bIns="0" rtlCol="0" anchor="t"/>
          <a:lstStyle/>
          <a:p>
            <a:pPr indent="0" marL="0">
              <a:buNone/>
            </a:pPr>
            <a:r>
              <a:rPr lang="en-US" sz="1300" dirty="0">
                <a:solidFill>
                  <a:schemeClr val="accent5"/>
                </a:solidFill>
              </a:rPr>
              <a:t>AUC ≥ 0.985 but only 64–80% detected at 0.5: the threshold is the problem</a:t>
            </a:r>
            <a:endParaRPr lang="en-US" sz="1300" dirty="0"/>
          </a:p>
        </p:txBody>
      </p:sp>
      <p:sp>
        <p:nvSpPr>
          <p:cNvPr id="12" name="attack fact 2 circle"/>
          <p:cNvSpPr/>
          <p:nvPr/>
        </p:nvSpPr>
        <p:spPr>
          <a:xfrm>
            <a:off x="8092440" y="3794760"/>
            <a:ext cx="548640" cy="548640"/>
          </a:xfrm>
          <a:prstGeom prst="ellipse">
            <a:avLst/>
          </a:prstGeom>
          <a:solidFill>
            <a:schemeClr val="accent2"/>
          </a:solidFill>
          <a:ln/>
        </p:spPr>
      </p:sp>
      <p:pic>
        <p:nvPicPr>
          <p:cNvPr id="13" name="attack fact 2 icon" descr="preencoded.png">    </p:cNvPr>
          <p:cNvPicPr>
            <a:picLocks noChangeAspect="1"/>
          </p:cNvPicPr>
          <p:nvPr/>
        </p:nvPicPr>
        <p:blipFill>
          <a:blip r:embed="rId4"/>
          <a:stretch>
            <a:fillRect/>
          </a:stretch>
        </p:blipFill>
        <p:spPr>
          <a:xfrm>
            <a:off x="8235086" y="3937406"/>
            <a:ext cx="263347" cy="263347"/>
          </a:xfrm>
          <a:prstGeom prst="rect">
            <a:avLst/>
          </a:prstGeom>
        </p:spPr>
      </p:pic>
      <p:sp>
        <p:nvSpPr>
          <p:cNvPr id="14" name="Text 8"/>
          <p:cNvSpPr txBox="1"/>
          <p:nvPr/>
        </p:nvSpPr>
        <p:spPr>
          <a:xfrm>
            <a:off x="8778240" y="3749040"/>
            <a:ext cx="2880360" cy="320040"/>
          </a:xfrm>
          <a:prstGeom prst="rect">
            <a:avLst/>
          </a:prstGeom>
          <a:noFill/>
          <a:ln/>
        </p:spPr>
        <p:txBody>
          <a:bodyPr wrap="square" lIns="0" tIns="0" rIns="0" bIns="0" rtlCol="0" anchor="t"/>
          <a:lstStyle/>
          <a:p>
            <a:pPr indent="0" marL="0">
              <a:buNone/>
            </a:pPr>
            <a:r>
              <a:rPr lang="en-US" sz="1500" b="1" dirty="0">
                <a:solidFill>
                  <a:schemeClr val="tx1"/>
                </a:solidFill>
              </a:rPr>
              <a:t>A17: 1.2% detected</a:t>
            </a:r>
            <a:endParaRPr lang="en-US" sz="1500" dirty="0"/>
          </a:p>
        </p:txBody>
      </p:sp>
      <p:sp>
        <p:nvSpPr>
          <p:cNvPr id="15" name="Text 9"/>
          <p:cNvSpPr txBox="1"/>
          <p:nvPr/>
        </p:nvSpPr>
        <p:spPr>
          <a:xfrm>
            <a:off x="8778240" y="4096512"/>
            <a:ext cx="2880360" cy="777240"/>
          </a:xfrm>
          <a:prstGeom prst="rect">
            <a:avLst/>
          </a:prstGeom>
          <a:noFill/>
          <a:ln/>
        </p:spPr>
        <p:txBody>
          <a:bodyPr wrap="square" lIns="0" tIns="0" rIns="0" bIns="0" rtlCol="0" anchor="t"/>
          <a:lstStyle/>
          <a:p>
            <a:pPr indent="0" marL="0">
              <a:buNone/>
            </a:pPr>
            <a:r>
              <a:rPr lang="en-US" sz="1300" dirty="0">
                <a:solidFill>
                  <a:schemeClr val="accent5"/>
                </a:solidFill>
              </a:rPr>
              <a:t>AUC 0.725, EER 34.4%; scores almost like real speech</a:t>
            </a:r>
            <a:endParaRPr lang="en-US" sz="1300" dirty="0"/>
          </a:p>
        </p:txBody>
      </p:sp>
      <p:sp>
        <p:nvSpPr>
          <p:cNvPr id="16" name="attack fact 3 circle"/>
          <p:cNvSpPr/>
          <p:nvPr/>
        </p:nvSpPr>
        <p:spPr>
          <a:xfrm>
            <a:off x="8092440" y="4983480"/>
            <a:ext cx="548640" cy="548640"/>
          </a:xfrm>
          <a:prstGeom prst="ellipse">
            <a:avLst/>
          </a:prstGeom>
          <a:solidFill>
            <a:schemeClr val="accent1"/>
          </a:solidFill>
          <a:ln/>
        </p:spPr>
      </p:sp>
      <p:pic>
        <p:nvPicPr>
          <p:cNvPr id="17" name="attack fact 3 icon" descr="preencoded.png">    </p:cNvPr>
          <p:cNvPicPr>
            <a:picLocks noChangeAspect="1"/>
          </p:cNvPicPr>
          <p:nvPr/>
        </p:nvPicPr>
        <p:blipFill>
          <a:blip r:embed="rId5"/>
          <a:stretch>
            <a:fillRect/>
          </a:stretch>
        </p:blipFill>
        <p:spPr>
          <a:xfrm>
            <a:off x="8235086" y="5126126"/>
            <a:ext cx="263347" cy="263347"/>
          </a:xfrm>
          <a:prstGeom prst="rect">
            <a:avLst/>
          </a:prstGeom>
        </p:spPr>
      </p:pic>
      <p:sp>
        <p:nvSpPr>
          <p:cNvPr id="18" name="Text 11"/>
          <p:cNvSpPr txBox="1"/>
          <p:nvPr/>
        </p:nvSpPr>
        <p:spPr>
          <a:xfrm>
            <a:off x="8778240" y="4937760"/>
            <a:ext cx="2880360" cy="320040"/>
          </a:xfrm>
          <a:prstGeom prst="rect">
            <a:avLst/>
          </a:prstGeom>
          <a:noFill/>
          <a:ln/>
        </p:spPr>
        <p:txBody>
          <a:bodyPr wrap="square" lIns="0" tIns="0" rIns="0" bIns="0" rtlCol="0" anchor="t"/>
          <a:lstStyle/>
          <a:p>
            <a:pPr indent="0" marL="0">
              <a:buNone/>
            </a:pPr>
            <a:r>
              <a:rPr lang="en-US" sz="1500" b="1" dirty="0">
                <a:solidFill>
                  <a:schemeClr val="tx1"/>
                </a:solidFill>
              </a:rPr>
              <a:t>Real speech: 99.2% accepted</a:t>
            </a:r>
            <a:endParaRPr lang="en-US" sz="1500" dirty="0"/>
          </a:p>
        </p:txBody>
      </p:sp>
      <p:sp>
        <p:nvSpPr>
          <p:cNvPr id="19" name="Text 12"/>
          <p:cNvSpPr txBox="1"/>
          <p:nvPr/>
        </p:nvSpPr>
        <p:spPr>
          <a:xfrm>
            <a:off x="8778240" y="5285232"/>
            <a:ext cx="2880360" cy="777240"/>
          </a:xfrm>
          <a:prstGeom prst="rect">
            <a:avLst/>
          </a:prstGeom>
          <a:noFill/>
          <a:ln/>
        </p:spPr>
        <p:txBody>
          <a:bodyPr wrap="square" lIns="0" tIns="0" rIns="0" bIns="0" rtlCol="0" anchor="t"/>
          <a:lstStyle/>
          <a:p>
            <a:pPr indent="0" marL="0">
              <a:buNone/>
            </a:pPr>
            <a:r>
              <a:rPr lang="en-US" sz="1300" dirty="0">
                <a:solidFill>
                  <a:schemeClr val="accent5"/>
                </a:solidFill>
              </a:rPr>
              <a:t>19 false alarms in 2,500 bona fide clips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Training converged fast; validation then saturated</a:t>
            </a:r>
            <a:endParaRPr lang="en-US" sz="3200" dirty="0"/>
          </a:p>
        </p:txBody>
      </p:sp>
      <p:graphicFrame>
        <p:nvGraphicFramePr>
          <p:cNvPr id="3" name="loss chart" descr=""/>
          <p:cNvGraphicFramePr/>
          <p:nvPr/>
        </p:nvGraphicFramePr>
        <p:xfrm>
          <a:off x="548640" y="1325880"/>
          <a:ext cx="54406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validation chart" descr=""/>
          <p:cNvGraphicFramePr/>
          <p:nvPr/>
        </p:nvGraphicFramePr>
        <p:xfrm>
          <a:off x="6199632" y="1325880"/>
          <a:ext cx="5440680" cy="3566160"/>
        </p:xfrm>
        <a:graphic xmlns:a="http://schemas.openxmlformats.org/drawingml/2006/main">
          <a:graphicData uri="http://schemas.openxmlformats.org/drawingml/2006/chart">
            <c:chart xmlns:c="http://schemas.openxmlformats.org/drawingml/2006/chart" r:id="rId2"/>
          </a:graphicData>
        </a:graphic>
      </p:graphicFrame>
      <p:sp>
        <p:nvSpPr>
          <p:cNvPr id="5" name="training note card"/>
          <p:cNvSpPr/>
          <p:nvPr/>
        </p:nvSpPr>
        <p:spPr>
          <a:xfrm>
            <a:off x="548640" y="5074920"/>
            <a:ext cx="11094415" cy="1051560"/>
          </a:xfrm>
          <a:prstGeom prst="roundRect">
            <a:avLst>
              <a:gd name="adj" fmla="val 10435"/>
            </a:avLst>
          </a:prstGeom>
          <a:solidFill>
            <a:schemeClr val="bg2"/>
          </a:solidFill>
          <a:ln/>
        </p:spPr>
      </p:sp>
      <p:sp>
        <p:nvSpPr>
          <p:cNvPr id="6" name="Text 2"/>
          <p:cNvSpPr txBox="1"/>
          <p:nvPr/>
        </p:nvSpPr>
        <p:spPr>
          <a:xfrm>
            <a:off x="822960" y="5166360"/>
            <a:ext cx="10545775" cy="868680"/>
          </a:xfrm>
          <a:prstGeom prst="rect">
            <a:avLst/>
          </a:prstGeom>
          <a:noFill/>
          <a:ln/>
        </p:spPr>
        <p:txBody>
          <a:bodyPr wrap="square" lIns="0" tIns="0" rIns="0" bIns="0" rtlCol="0" anchor="ctr"/>
          <a:lstStyle/>
          <a:p>
            <a:pPr indent="0" marL="0">
              <a:buNone/>
            </a:pPr>
            <a:r>
              <a:rPr lang="en-US" sz="1400" b="1" dirty="0">
                <a:solidFill>
                  <a:schemeClr val="tx1"/>
                </a:solidFill>
              </a:rPr>
              <a:t>Why it stopped at epoch 6: </a:t>
            </a:r>
            <a:pPr indent="0" marL="0">
              <a:buNone/>
            </a:pPr>
            <a:r>
              <a:rPr lang="en-US" sz="1400" dirty="0">
                <a:solidFill>
                  <a:schemeClr val="tx1"/>
                </a:solidFill>
              </a:rPr>
              <a:t>the validation partition contains the same attacks as training (A01–A06), so validation AUC reached 1.0 by epoch 3 and could not improve. Early stopping kept epoch 3. The test AUC of 0.977 on mostly unseen attacks is the meaningful measure.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Grad-CAM shows where the voice model looks</a:t>
            </a:r>
            <a:endParaRPr lang="en-US" sz="3200" dirty="0"/>
          </a:p>
        </p:txBody>
      </p:sp>
      <p:sp>
        <p:nvSpPr>
          <p:cNvPr id="3" name="gradcam frame"/>
          <p:cNvSpPr/>
          <p:nvPr/>
        </p:nvSpPr>
        <p:spPr>
          <a:xfrm>
            <a:off x="548640" y="1325880"/>
            <a:ext cx="11094415" cy="3429000"/>
          </a:xfrm>
          <a:prstGeom prst="roundRect">
            <a:avLst>
              <a:gd name="adj" fmla="val 3200"/>
            </a:avLst>
          </a:prstGeom>
          <a:solidFill>
            <a:schemeClr val="bg1"/>
          </a:solidFill>
          <a:ln/>
        </p:spPr>
      </p:sp>
      <p:pic>
        <p:nvPicPr>
          <p:cNvPr id="4" name="gradcam spectrogram" descr="Spectrogram of a synthetic voice with a Grad-CAM heatmap; the most influential region is in the first 1.8 seconds">    </p:cNvPr>
          <p:cNvPicPr>
            <a:picLocks noChangeAspect="1"/>
          </p:cNvPicPr>
          <p:nvPr/>
        </p:nvPicPr>
        <p:blipFill>
          <a:blip r:embed="rId1"/>
          <a:stretch>
            <a:fillRect/>
          </a:stretch>
        </p:blipFill>
        <p:spPr>
          <a:xfrm>
            <a:off x="868680" y="1417320"/>
            <a:ext cx="10451592" cy="3017520"/>
          </a:xfrm>
          <a:prstGeom prst="rect">
            <a:avLst/>
          </a:prstGeom>
        </p:spPr>
      </p:pic>
      <p:sp>
        <p:nvSpPr>
          <p:cNvPr id="5" name="Text 2"/>
          <p:cNvSpPr txBox="1"/>
          <p:nvPr/>
        </p:nvSpPr>
        <p:spPr>
          <a:xfrm>
            <a:off x="548640" y="4526280"/>
            <a:ext cx="11094415" cy="365760"/>
          </a:xfrm>
          <a:prstGeom prst="rect">
            <a:avLst/>
          </a:prstGeom>
          <a:noFill/>
          <a:ln/>
        </p:spPr>
        <p:txBody>
          <a:bodyPr wrap="square" lIns="0" tIns="0" rIns="0" bIns="0" rtlCol="0" anchor="t"/>
          <a:lstStyle/>
          <a:p>
            <a:pPr indent="0" marL="0">
              <a:buNone/>
            </a:pPr>
            <a:r>
              <a:rPr lang="en-US" sz="1200" dirty="0">
                <a:solidFill>
                  <a:schemeClr val="accent5"/>
                </a:solidFill>
              </a:rPr>
              <a:t>Synthetic speech (macOS text-to-speech) analysed in the demo: P(fake) = 100%. Red marks the time–frequency regions that drove the decision.</a:t>
            </a:r>
            <a:endParaRPr lang="en-US" sz="1200" dirty="0"/>
          </a:p>
        </p:txBody>
      </p:sp>
      <p:sp>
        <p:nvSpPr>
          <p:cNvPr id="6" name="xai Voice heatmaps circle"/>
          <p:cNvSpPr/>
          <p:nvPr/>
        </p:nvSpPr>
        <p:spPr>
          <a:xfrm>
            <a:off x="548640" y="5120640"/>
            <a:ext cx="594360" cy="594360"/>
          </a:xfrm>
          <a:prstGeom prst="ellipse">
            <a:avLst/>
          </a:prstGeom>
          <a:solidFill>
            <a:schemeClr val="accent1"/>
          </a:solidFill>
          <a:ln/>
        </p:spPr>
      </p:sp>
      <p:pic>
        <p:nvPicPr>
          <p:cNvPr id="7" name="xai Voice heatmaps icon" descr="preencoded.png">    </p:cNvPr>
          <p:cNvPicPr>
            <a:picLocks noChangeAspect="1"/>
          </p:cNvPicPr>
          <p:nvPr/>
        </p:nvPicPr>
        <p:blipFill>
          <a:blip r:embed="rId2"/>
          <a:stretch>
            <a:fillRect/>
          </a:stretch>
        </p:blipFill>
        <p:spPr>
          <a:xfrm>
            <a:off x="703174" y="5275174"/>
            <a:ext cx="285293" cy="285293"/>
          </a:xfrm>
          <a:prstGeom prst="rect">
            <a:avLst/>
          </a:prstGeom>
        </p:spPr>
      </p:pic>
      <p:sp>
        <p:nvSpPr>
          <p:cNvPr id="8" name="Text 4"/>
          <p:cNvSpPr txBox="1"/>
          <p:nvPr/>
        </p:nvSpPr>
        <p:spPr>
          <a:xfrm>
            <a:off x="1325880" y="5074920"/>
            <a:ext cx="4663440" cy="320040"/>
          </a:xfrm>
          <a:prstGeom prst="rect">
            <a:avLst/>
          </a:prstGeom>
          <a:noFill/>
          <a:ln/>
        </p:spPr>
        <p:txBody>
          <a:bodyPr wrap="square" lIns="0" tIns="0" rIns="0" bIns="0" rtlCol="0" anchor="t"/>
          <a:lstStyle/>
          <a:p>
            <a:pPr indent="0" marL="0">
              <a:buNone/>
            </a:pPr>
            <a:r>
              <a:rPr lang="en-US" sz="1600" b="1" dirty="0">
                <a:solidFill>
                  <a:schemeClr val="tx1"/>
                </a:solidFill>
              </a:rPr>
              <a:t>Voice heatmaps</a:t>
            </a:r>
            <a:endParaRPr lang="en-US" sz="1600" dirty="0"/>
          </a:p>
        </p:txBody>
      </p:sp>
      <p:sp>
        <p:nvSpPr>
          <p:cNvPr id="9" name="Text 5"/>
          <p:cNvSpPr txBox="1"/>
          <p:nvPr/>
        </p:nvSpPr>
        <p:spPr>
          <a:xfrm>
            <a:off x="1325880" y="5413248"/>
            <a:ext cx="4663440" cy="731520"/>
          </a:xfrm>
          <a:prstGeom prst="rect">
            <a:avLst/>
          </a:prstGeom>
          <a:noFill/>
          <a:ln/>
        </p:spPr>
        <p:txBody>
          <a:bodyPr wrap="square" lIns="0" tIns="0" rIns="0" bIns="0" rtlCol="0" anchor="t"/>
          <a:lstStyle/>
          <a:p>
            <a:pPr indent="0" marL="0">
              <a:buNone/>
            </a:pPr>
            <a:r>
              <a:rPr lang="en-US" sz="1300" dirty="0">
                <a:solidFill>
                  <a:schemeClr val="accent5"/>
                </a:solidFill>
              </a:rPr>
              <a:t>Gradients of the decision at ResNet-18's last block (4 × 13 cells), upsampled onto the 128 × 401 spectrogram.</a:t>
            </a:r>
            <a:endParaRPr lang="en-US" sz="1300" dirty="0"/>
          </a:p>
        </p:txBody>
      </p:sp>
      <p:sp>
        <p:nvSpPr>
          <p:cNvPr id="10" name="xai Face heatmaps circle"/>
          <p:cNvSpPr/>
          <p:nvPr/>
        </p:nvSpPr>
        <p:spPr>
          <a:xfrm>
            <a:off x="6217920" y="5120640"/>
            <a:ext cx="594360" cy="594360"/>
          </a:xfrm>
          <a:prstGeom prst="ellipse">
            <a:avLst/>
          </a:prstGeom>
          <a:solidFill>
            <a:schemeClr val="accent4"/>
          </a:solidFill>
          <a:ln/>
        </p:spPr>
      </p:sp>
      <p:pic>
        <p:nvPicPr>
          <p:cNvPr id="11" name="xai Face heatmaps icon" descr="preencoded.png">    </p:cNvPr>
          <p:cNvPicPr>
            <a:picLocks noChangeAspect="1"/>
          </p:cNvPicPr>
          <p:nvPr/>
        </p:nvPicPr>
        <p:blipFill>
          <a:blip r:embed="rId3"/>
          <a:stretch>
            <a:fillRect/>
          </a:stretch>
        </p:blipFill>
        <p:spPr>
          <a:xfrm>
            <a:off x="6372454" y="5275174"/>
            <a:ext cx="285293" cy="285293"/>
          </a:xfrm>
          <a:prstGeom prst="rect">
            <a:avLst/>
          </a:prstGeom>
        </p:spPr>
      </p:pic>
      <p:sp>
        <p:nvSpPr>
          <p:cNvPr id="12" name="Text 7"/>
          <p:cNvSpPr txBox="1"/>
          <p:nvPr/>
        </p:nvSpPr>
        <p:spPr>
          <a:xfrm>
            <a:off x="6995160" y="5074920"/>
            <a:ext cx="4663440" cy="320040"/>
          </a:xfrm>
          <a:prstGeom prst="rect">
            <a:avLst/>
          </a:prstGeom>
          <a:noFill/>
          <a:ln/>
        </p:spPr>
        <p:txBody>
          <a:bodyPr wrap="square" lIns="0" tIns="0" rIns="0" bIns="0" rtlCol="0" anchor="t"/>
          <a:lstStyle/>
          <a:p>
            <a:pPr indent="0" marL="0">
              <a:buNone/>
            </a:pPr>
            <a:r>
              <a:rPr lang="en-US" sz="1600" b="1" dirty="0">
                <a:solidFill>
                  <a:schemeClr val="tx1"/>
                </a:solidFill>
              </a:rPr>
              <a:t>Face heatmaps</a:t>
            </a:r>
            <a:endParaRPr lang="en-US" sz="1600" dirty="0"/>
          </a:p>
        </p:txBody>
      </p:sp>
      <p:sp>
        <p:nvSpPr>
          <p:cNvPr id="13" name="Text 8"/>
          <p:cNvSpPr txBox="1"/>
          <p:nvPr/>
        </p:nvSpPr>
        <p:spPr>
          <a:xfrm>
            <a:off x="6995160" y="5413248"/>
            <a:ext cx="4663440" cy="731520"/>
          </a:xfrm>
          <a:prstGeom prst="rect">
            <a:avLst/>
          </a:prstGeom>
          <a:noFill/>
          <a:ln/>
        </p:spPr>
        <p:txBody>
          <a:bodyPr wrap="square" lIns="0" tIns="0" rIns="0" bIns="0" rtlCol="0" anchor="t"/>
          <a:lstStyle/>
          <a:p>
            <a:pPr indent="0" marL="0">
              <a:buNone/>
            </a:pPr>
            <a:r>
              <a:rPr lang="en-US" sz="1300" dirty="0">
                <a:solidFill>
                  <a:schemeClr val="accent5"/>
                </a:solidFill>
              </a:rPr>
              <a:t>Per-frame maps on the face crops (EfficientNet-B0). Shown once the face model is trained on FakeAVCeleb.</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Demo app: verdict, evidence, model card, code</a:t>
            </a:r>
            <a:endParaRPr lang="en-US" sz="3200" dirty="0"/>
          </a:p>
        </p:txBody>
      </p:sp>
      <p:pic>
        <p:nvPicPr>
          <p:cNvPr id="3" name="demo screenshot" descr="Demo app showing a FAKE verdict at 100% with evidence per model branch">    </p:cNvPr>
          <p:cNvPicPr>
            <a:picLocks noChangeAspect="1"/>
          </p:cNvPicPr>
          <p:nvPr/>
        </p:nvPicPr>
        <p:blipFill>
          <a:blip r:embed="rId1"/>
          <a:stretch>
            <a:fillRect/>
          </a:stretch>
        </p:blipFill>
        <p:spPr>
          <a:xfrm>
            <a:off x="548640" y="1371600"/>
            <a:ext cx="6949440" cy="4064546"/>
          </a:xfrm>
          <a:prstGeom prst="rect">
            <a:avLst/>
          </a:prstGeom>
        </p:spPr>
      </p:pic>
      <p:sp>
        <p:nvSpPr>
          <p:cNvPr id="4" name="Text 1"/>
          <p:cNvSpPr txBox="1"/>
          <p:nvPr/>
        </p:nvSpPr>
        <p:spPr>
          <a:xfrm>
            <a:off x="548640" y="5623560"/>
            <a:ext cx="6949440" cy="32004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python app/app.py   ·   Colab: --share for a public link</a:t>
            </a:r>
            <a:endParaRPr lang="en-US" sz="1200" dirty="0"/>
          </a:p>
        </p:txBody>
      </p:sp>
      <p:sp>
        <p:nvSpPr>
          <p:cNvPr id="5" name="tab Analyse circle"/>
          <p:cNvSpPr/>
          <p:nvPr/>
        </p:nvSpPr>
        <p:spPr>
          <a:xfrm>
            <a:off x="7818120" y="1417320"/>
            <a:ext cx="548640" cy="548640"/>
          </a:xfrm>
          <a:prstGeom prst="ellipse">
            <a:avLst/>
          </a:prstGeom>
          <a:solidFill>
            <a:schemeClr val="accent1"/>
          </a:solidFill>
          <a:ln/>
        </p:spPr>
      </p:sp>
      <p:pic>
        <p:nvPicPr>
          <p:cNvPr id="6" name="tab Analyse icon" descr="preencoded.png">    </p:cNvPr>
          <p:cNvPicPr>
            <a:picLocks noChangeAspect="1"/>
          </p:cNvPicPr>
          <p:nvPr/>
        </p:nvPicPr>
        <p:blipFill>
          <a:blip r:embed="rId2"/>
          <a:stretch>
            <a:fillRect/>
          </a:stretch>
        </p:blipFill>
        <p:spPr>
          <a:xfrm>
            <a:off x="7960766" y="1559966"/>
            <a:ext cx="263347" cy="263347"/>
          </a:xfrm>
          <a:prstGeom prst="rect">
            <a:avLst/>
          </a:prstGeom>
        </p:spPr>
      </p:pic>
      <p:sp>
        <p:nvSpPr>
          <p:cNvPr id="7" name="Text 3"/>
          <p:cNvSpPr txBox="1"/>
          <p:nvPr/>
        </p:nvSpPr>
        <p:spPr>
          <a:xfrm>
            <a:off x="8503920" y="1371600"/>
            <a:ext cx="3154680" cy="320040"/>
          </a:xfrm>
          <a:prstGeom prst="rect">
            <a:avLst/>
          </a:prstGeom>
          <a:noFill/>
          <a:ln/>
        </p:spPr>
        <p:txBody>
          <a:bodyPr wrap="square" lIns="0" tIns="0" rIns="0" bIns="0" rtlCol="0" anchor="t"/>
          <a:lstStyle/>
          <a:p>
            <a:pPr indent="0" marL="0">
              <a:buNone/>
            </a:pPr>
            <a:r>
              <a:rPr lang="en-US" sz="1600" b="1" dirty="0">
                <a:solidFill>
                  <a:schemeClr val="tx1"/>
                </a:solidFill>
              </a:rPr>
              <a:t>Analyse</a:t>
            </a:r>
            <a:endParaRPr lang="en-US" sz="1600" dirty="0"/>
          </a:p>
        </p:txBody>
      </p:sp>
      <p:sp>
        <p:nvSpPr>
          <p:cNvPr id="8" name="Text 4"/>
          <p:cNvSpPr txBox="1"/>
          <p:nvPr/>
        </p:nvSpPr>
        <p:spPr>
          <a:xfrm>
            <a:off x="8503920" y="1709928"/>
            <a:ext cx="3154680" cy="685800"/>
          </a:xfrm>
          <a:prstGeom prst="rect">
            <a:avLst/>
          </a:prstGeom>
          <a:noFill/>
          <a:ln/>
        </p:spPr>
        <p:txBody>
          <a:bodyPr wrap="square" lIns="0" tIns="0" rIns="0" bIns="0" rtlCol="0" anchor="t"/>
          <a:lstStyle/>
          <a:p>
            <a:pPr indent="0" marL="0">
              <a:buNone/>
            </a:pPr>
            <a:r>
              <a:rPr lang="en-US" sz="1300" dirty="0">
                <a:solidFill>
                  <a:schemeClr val="accent5"/>
                </a:solidFill>
              </a:rPr>
              <a:t>Video, audio or microphone; verdict gauge, score per branch, Grad-CAM</a:t>
            </a:r>
            <a:endParaRPr lang="en-US" sz="1300" dirty="0"/>
          </a:p>
        </p:txBody>
      </p:sp>
      <p:sp>
        <p:nvSpPr>
          <p:cNvPr id="9" name="tab Model &amp; training circle"/>
          <p:cNvSpPr/>
          <p:nvPr/>
        </p:nvSpPr>
        <p:spPr>
          <a:xfrm>
            <a:off x="7818120" y="2532888"/>
            <a:ext cx="548640" cy="548640"/>
          </a:xfrm>
          <a:prstGeom prst="ellipse">
            <a:avLst/>
          </a:prstGeom>
          <a:solidFill>
            <a:schemeClr val="accent1"/>
          </a:solidFill>
          <a:ln/>
        </p:spPr>
      </p:sp>
      <p:pic>
        <p:nvPicPr>
          <p:cNvPr id="10" name="tab Model &amp; training icon" descr="preencoded.png">    </p:cNvPr>
          <p:cNvPicPr>
            <a:picLocks noChangeAspect="1"/>
          </p:cNvPicPr>
          <p:nvPr/>
        </p:nvPicPr>
        <p:blipFill>
          <a:blip r:embed="rId3"/>
          <a:stretch>
            <a:fillRect/>
          </a:stretch>
        </p:blipFill>
        <p:spPr>
          <a:xfrm>
            <a:off x="7960766" y="2675534"/>
            <a:ext cx="263347" cy="263347"/>
          </a:xfrm>
          <a:prstGeom prst="rect">
            <a:avLst/>
          </a:prstGeom>
        </p:spPr>
      </p:pic>
      <p:sp>
        <p:nvSpPr>
          <p:cNvPr id="11" name="Text 6"/>
          <p:cNvSpPr txBox="1"/>
          <p:nvPr/>
        </p:nvSpPr>
        <p:spPr>
          <a:xfrm>
            <a:off x="8503920" y="2487168"/>
            <a:ext cx="3154680" cy="320040"/>
          </a:xfrm>
          <a:prstGeom prst="rect">
            <a:avLst/>
          </a:prstGeom>
          <a:noFill/>
          <a:ln/>
        </p:spPr>
        <p:txBody>
          <a:bodyPr wrap="square" lIns="0" tIns="0" rIns="0" bIns="0" rtlCol="0" anchor="t"/>
          <a:lstStyle/>
          <a:p>
            <a:pPr indent="0" marL="0">
              <a:buNone/>
            </a:pPr>
            <a:r>
              <a:rPr lang="en-US" sz="1600" b="1" dirty="0">
                <a:solidFill>
                  <a:schemeClr val="tx1"/>
                </a:solidFill>
              </a:rPr>
              <a:t>Model &amp; training</a:t>
            </a:r>
            <a:endParaRPr lang="en-US" sz="1600" dirty="0"/>
          </a:p>
        </p:txBody>
      </p:sp>
      <p:sp>
        <p:nvSpPr>
          <p:cNvPr id="12" name="Text 7"/>
          <p:cNvSpPr txBox="1"/>
          <p:nvPr/>
        </p:nvSpPr>
        <p:spPr>
          <a:xfrm>
            <a:off x="8503920" y="2825496"/>
            <a:ext cx="3154680" cy="685800"/>
          </a:xfrm>
          <a:prstGeom prst="rect">
            <a:avLst/>
          </a:prstGeom>
          <a:noFill/>
          <a:ln/>
        </p:spPr>
        <p:txBody>
          <a:bodyPr wrap="square" lIns="0" tIns="0" rIns="0" bIns="0" rtlCol="0" anchor="t"/>
          <a:lstStyle/>
          <a:p>
            <a:pPr indent="0" marL="0">
              <a:buNone/>
            </a:pPr>
            <a:r>
              <a:rPr lang="en-US" sz="1300" dirty="0">
                <a:solidFill>
                  <a:schemeClr val="accent5"/>
                </a:solidFill>
              </a:rPr>
              <a:t>Splits, settings, test metrics, per-attack table, curves, ROC</a:t>
            </a:r>
            <a:endParaRPr lang="en-US" sz="1300" dirty="0"/>
          </a:p>
        </p:txBody>
      </p:sp>
      <p:sp>
        <p:nvSpPr>
          <p:cNvPr id="13" name="tab Code circle"/>
          <p:cNvSpPr/>
          <p:nvPr/>
        </p:nvSpPr>
        <p:spPr>
          <a:xfrm>
            <a:off x="7818120" y="3648456"/>
            <a:ext cx="548640" cy="548640"/>
          </a:xfrm>
          <a:prstGeom prst="ellipse">
            <a:avLst/>
          </a:prstGeom>
          <a:solidFill>
            <a:schemeClr val="accent1"/>
          </a:solidFill>
          <a:ln/>
        </p:spPr>
      </p:sp>
      <p:pic>
        <p:nvPicPr>
          <p:cNvPr id="14" name="tab Code icon" descr="preencoded.png">    </p:cNvPr>
          <p:cNvPicPr>
            <a:picLocks noChangeAspect="1"/>
          </p:cNvPicPr>
          <p:nvPr/>
        </p:nvPicPr>
        <p:blipFill>
          <a:blip r:embed="rId4"/>
          <a:stretch>
            <a:fillRect/>
          </a:stretch>
        </p:blipFill>
        <p:spPr>
          <a:xfrm>
            <a:off x="7960766" y="3791102"/>
            <a:ext cx="263347" cy="263347"/>
          </a:xfrm>
          <a:prstGeom prst="rect">
            <a:avLst/>
          </a:prstGeom>
        </p:spPr>
      </p:pic>
      <p:sp>
        <p:nvSpPr>
          <p:cNvPr id="15" name="Text 9"/>
          <p:cNvSpPr txBox="1"/>
          <p:nvPr/>
        </p:nvSpPr>
        <p:spPr>
          <a:xfrm>
            <a:off x="8503920" y="3602736"/>
            <a:ext cx="3154680" cy="320040"/>
          </a:xfrm>
          <a:prstGeom prst="rect">
            <a:avLst/>
          </a:prstGeom>
          <a:noFill/>
          <a:ln/>
        </p:spPr>
        <p:txBody>
          <a:bodyPr wrap="square" lIns="0" tIns="0" rIns="0" bIns="0" rtlCol="0" anchor="t"/>
          <a:lstStyle/>
          <a:p>
            <a:pPr indent="0" marL="0">
              <a:buNone/>
            </a:pPr>
            <a:r>
              <a:rPr lang="en-US" sz="1600" b="1" dirty="0">
                <a:solidFill>
                  <a:schemeClr val="tx1"/>
                </a:solidFill>
              </a:rPr>
              <a:t>Code</a:t>
            </a:r>
            <a:endParaRPr lang="en-US" sz="1600" dirty="0"/>
          </a:p>
        </p:txBody>
      </p:sp>
      <p:sp>
        <p:nvSpPr>
          <p:cNvPr id="16" name="Text 10"/>
          <p:cNvSpPr txBox="1"/>
          <p:nvPr/>
        </p:nvSpPr>
        <p:spPr>
          <a:xfrm>
            <a:off x="8503920" y="3941064"/>
            <a:ext cx="3154680" cy="685800"/>
          </a:xfrm>
          <a:prstGeom prst="rect">
            <a:avLst/>
          </a:prstGeom>
          <a:noFill/>
          <a:ln/>
        </p:spPr>
        <p:txBody>
          <a:bodyPr wrap="square" lIns="0" tIns="0" rIns="0" bIns="0" rtlCol="0" anchor="t"/>
          <a:lstStyle/>
          <a:p>
            <a:pPr indent="0" marL="0">
              <a:buNone/>
            </a:pPr>
            <a:r>
              <a:rPr lang="en-US" sz="1300" dirty="0">
                <a:solidFill>
                  <a:schemeClr val="accent5"/>
                </a:solidFill>
              </a:rPr>
              <a:t>Exact training command and model source</a:t>
            </a:r>
            <a:endParaRPr lang="en-US" sz="1300" dirty="0"/>
          </a:p>
        </p:txBody>
      </p:sp>
      <p:sp>
        <p:nvSpPr>
          <p:cNvPr id="17" name="tab About circle"/>
          <p:cNvSpPr/>
          <p:nvPr/>
        </p:nvSpPr>
        <p:spPr>
          <a:xfrm>
            <a:off x="7818120" y="4764024"/>
            <a:ext cx="548640" cy="548640"/>
          </a:xfrm>
          <a:prstGeom prst="ellipse">
            <a:avLst/>
          </a:prstGeom>
          <a:solidFill>
            <a:schemeClr val="accent1"/>
          </a:solidFill>
          <a:ln/>
        </p:spPr>
      </p:sp>
      <p:pic>
        <p:nvPicPr>
          <p:cNvPr id="18" name="tab About icon" descr="preencoded.png">    </p:cNvPr>
          <p:cNvPicPr>
            <a:picLocks noChangeAspect="1"/>
          </p:cNvPicPr>
          <p:nvPr/>
        </p:nvPicPr>
        <p:blipFill>
          <a:blip r:embed="rId5"/>
          <a:stretch>
            <a:fillRect/>
          </a:stretch>
        </p:blipFill>
        <p:spPr>
          <a:xfrm>
            <a:off x="7960766" y="4906670"/>
            <a:ext cx="263347" cy="263347"/>
          </a:xfrm>
          <a:prstGeom prst="rect">
            <a:avLst/>
          </a:prstGeom>
        </p:spPr>
      </p:pic>
      <p:sp>
        <p:nvSpPr>
          <p:cNvPr id="19" name="Text 12"/>
          <p:cNvSpPr txBox="1"/>
          <p:nvPr/>
        </p:nvSpPr>
        <p:spPr>
          <a:xfrm>
            <a:off x="8503920" y="4718304"/>
            <a:ext cx="3154680" cy="320040"/>
          </a:xfrm>
          <a:prstGeom prst="rect">
            <a:avLst/>
          </a:prstGeom>
          <a:noFill/>
          <a:ln/>
        </p:spPr>
        <p:txBody>
          <a:bodyPr wrap="square" lIns="0" tIns="0" rIns="0" bIns="0" rtlCol="0" anchor="t"/>
          <a:lstStyle/>
          <a:p>
            <a:pPr indent="0" marL="0">
              <a:buNone/>
            </a:pPr>
            <a:r>
              <a:rPr lang="en-US" sz="1600" b="1" dirty="0">
                <a:solidFill>
                  <a:schemeClr val="tx1"/>
                </a:solidFill>
              </a:rPr>
              <a:t>About</a:t>
            </a:r>
            <a:endParaRPr lang="en-US" sz="1600" dirty="0"/>
          </a:p>
        </p:txBody>
      </p:sp>
      <p:sp>
        <p:nvSpPr>
          <p:cNvPr id="20" name="Text 13"/>
          <p:cNvSpPr txBox="1"/>
          <p:nvPr/>
        </p:nvSpPr>
        <p:spPr>
          <a:xfrm>
            <a:off x="8503920" y="5056632"/>
            <a:ext cx="3154680" cy="685800"/>
          </a:xfrm>
          <a:prstGeom prst="rect">
            <a:avLst/>
          </a:prstGeom>
          <a:noFill/>
          <a:ln/>
        </p:spPr>
        <p:txBody>
          <a:bodyPr wrap="square" lIns="0" tIns="0" rIns="0" bIns="0" rtlCol="0" anchor="t"/>
          <a:lstStyle/>
          <a:p>
            <a:pPr indent="0" marL="0">
              <a:buNone/>
            </a:pPr>
            <a:r>
              <a:rPr lang="en-US" sz="1300" dirty="0">
                <a:solidFill>
                  <a:schemeClr val="accent5"/>
                </a:solidFill>
              </a:rPr>
              <a:t>How it works, how to read a result, limitations</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Built and tested, waiting for FakeAVCeleb</a:t>
            </a:r>
            <a:endParaRPr lang="en-US" sz="3200" dirty="0"/>
          </a:p>
        </p:txBody>
      </p:sp>
      <p:sp>
        <p:nvSpPr>
          <p:cNvPr id="3" name="pending card 0"/>
          <p:cNvSpPr/>
          <p:nvPr/>
        </p:nvSpPr>
        <p:spPr>
          <a:xfrm>
            <a:off x="548640" y="1417320"/>
            <a:ext cx="5394960" cy="1783080"/>
          </a:xfrm>
          <a:prstGeom prst="roundRect">
            <a:avLst>
              <a:gd name="adj" fmla="val 6154"/>
            </a:avLst>
          </a:prstGeom>
          <a:solidFill>
            <a:schemeClr val="bg2"/>
          </a:solidFill>
          <a:ln/>
        </p:spPr>
      </p:sp>
      <p:sp>
        <p:nvSpPr>
          <p:cNvPr id="4" name="pending Face model circle"/>
          <p:cNvSpPr/>
          <p:nvPr/>
        </p:nvSpPr>
        <p:spPr>
          <a:xfrm>
            <a:off x="822960" y="1737360"/>
            <a:ext cx="685800" cy="685800"/>
          </a:xfrm>
          <a:prstGeom prst="ellipse">
            <a:avLst/>
          </a:prstGeom>
          <a:solidFill>
            <a:schemeClr val="accent1"/>
          </a:solidFill>
          <a:ln/>
        </p:spPr>
      </p:sp>
      <p:pic>
        <p:nvPicPr>
          <p:cNvPr id="5" name="pending Face model icon"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6" name="Text 3"/>
          <p:cNvSpPr txBox="1"/>
          <p:nvPr/>
        </p:nvSpPr>
        <p:spPr>
          <a:xfrm>
            <a:off x="1737360" y="1691640"/>
            <a:ext cx="2560320" cy="411480"/>
          </a:xfrm>
          <a:prstGeom prst="rect">
            <a:avLst/>
          </a:prstGeom>
          <a:noFill/>
          <a:ln/>
        </p:spPr>
        <p:txBody>
          <a:bodyPr wrap="square" lIns="0" tIns="0" rIns="0" bIns="0" rtlCol="0" anchor="t"/>
          <a:lstStyle/>
          <a:p>
            <a:pPr indent="0" marL="0">
              <a:buNone/>
            </a:pPr>
            <a:r>
              <a:rPr lang="en-US" sz="1900" b="1" dirty="0">
                <a:solidFill>
                  <a:schemeClr val="tx1"/>
                </a:solidFill>
              </a:rPr>
              <a:t>Face model</a:t>
            </a:r>
            <a:endParaRPr lang="en-US" sz="1900" dirty="0"/>
          </a:p>
        </p:txBody>
      </p:sp>
      <p:sp>
        <p:nvSpPr>
          <p:cNvPr id="7" name="pending 0 pill"/>
          <p:cNvSpPr/>
          <p:nvPr/>
        </p:nvSpPr>
        <p:spPr>
          <a:xfrm>
            <a:off x="4389120" y="1746504"/>
            <a:ext cx="1280160" cy="292608"/>
          </a:xfrm>
          <a:prstGeom prst="roundRect">
            <a:avLst>
              <a:gd name="adj" fmla="val 50000"/>
            </a:avLst>
          </a:prstGeom>
          <a:solidFill>
            <a:schemeClr val="accent4"/>
          </a:solidFill>
          <a:ln/>
        </p:spPr>
      </p:sp>
      <p:sp>
        <p:nvSpPr>
          <p:cNvPr id="8" name="pending 0 pill text"/>
          <p:cNvSpPr txBox="1"/>
          <p:nvPr/>
        </p:nvSpPr>
        <p:spPr>
          <a:xfrm>
            <a:off x="4389120" y="1746504"/>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pending data</a:t>
            </a:r>
            <a:endParaRPr lang="en-US" sz="1100" dirty="0"/>
          </a:p>
        </p:txBody>
      </p:sp>
      <p:sp>
        <p:nvSpPr>
          <p:cNvPr id="9" name="Text 6"/>
          <p:cNvSpPr txBox="1"/>
          <p:nvPr/>
        </p:nvSpPr>
        <p:spPr>
          <a:xfrm>
            <a:off x="1737360" y="2194560"/>
            <a:ext cx="3977640" cy="868680"/>
          </a:xfrm>
          <a:prstGeom prst="rect">
            <a:avLst/>
          </a:prstGeom>
          <a:noFill/>
          <a:ln/>
        </p:spPr>
        <p:txBody>
          <a:bodyPr wrap="square" lIns="0" tIns="0" rIns="0" bIns="0" rtlCol="0" anchor="t"/>
          <a:lstStyle/>
          <a:p>
            <a:pPr indent="0" marL="0">
              <a:buNone/>
            </a:pPr>
            <a:r>
              <a:rPr lang="en-US" sz="1400" dirty="0">
                <a:solidFill>
                  <a:schemeClr val="tx1"/>
                </a:solidFill>
              </a:rPr>
              <a:t>EfficientNet-B0 on FakeAVCeleb and DFDC; cross-dataset test on Celeb-DF</a:t>
            </a:r>
            <a:endParaRPr lang="en-US" sz="1400" dirty="0"/>
          </a:p>
        </p:txBody>
      </p:sp>
      <p:sp>
        <p:nvSpPr>
          <p:cNvPr id="10" name="pending card 1"/>
          <p:cNvSpPr/>
          <p:nvPr/>
        </p:nvSpPr>
        <p:spPr>
          <a:xfrm>
            <a:off x="6217920" y="1417320"/>
            <a:ext cx="5394960" cy="1783080"/>
          </a:xfrm>
          <a:prstGeom prst="roundRect">
            <a:avLst>
              <a:gd name="adj" fmla="val 6154"/>
            </a:avLst>
          </a:prstGeom>
          <a:solidFill>
            <a:schemeClr val="bg2"/>
          </a:solidFill>
          <a:ln/>
        </p:spPr>
      </p:sp>
      <p:sp>
        <p:nvSpPr>
          <p:cNvPr id="11" name="pending Fusion comparison circle"/>
          <p:cNvSpPr/>
          <p:nvPr/>
        </p:nvSpPr>
        <p:spPr>
          <a:xfrm>
            <a:off x="6492240" y="1737360"/>
            <a:ext cx="685800" cy="685800"/>
          </a:xfrm>
          <a:prstGeom prst="ellipse">
            <a:avLst/>
          </a:prstGeom>
          <a:solidFill>
            <a:schemeClr val="accent1"/>
          </a:solidFill>
          <a:ln/>
        </p:spPr>
      </p:sp>
      <p:pic>
        <p:nvPicPr>
          <p:cNvPr id="12" name="pending Fusion comparison icon" descr="preencoded.png">    </p:cNvPr>
          <p:cNvPicPr>
            <a:picLocks noChangeAspect="1"/>
          </p:cNvPicPr>
          <p:nvPr/>
        </p:nvPicPr>
        <p:blipFill>
          <a:blip r:embed="rId2"/>
          <a:stretch>
            <a:fillRect/>
          </a:stretch>
        </p:blipFill>
        <p:spPr>
          <a:xfrm>
            <a:off x="6670548" y="1915668"/>
            <a:ext cx="329184" cy="329184"/>
          </a:xfrm>
          <a:prstGeom prst="rect">
            <a:avLst/>
          </a:prstGeom>
        </p:spPr>
      </p:pic>
      <p:sp>
        <p:nvSpPr>
          <p:cNvPr id="13" name="Text 9"/>
          <p:cNvSpPr txBox="1"/>
          <p:nvPr/>
        </p:nvSpPr>
        <p:spPr>
          <a:xfrm>
            <a:off x="7406640" y="1691640"/>
            <a:ext cx="2560320" cy="411480"/>
          </a:xfrm>
          <a:prstGeom prst="rect">
            <a:avLst/>
          </a:prstGeom>
          <a:noFill/>
          <a:ln/>
        </p:spPr>
        <p:txBody>
          <a:bodyPr wrap="square" lIns="0" tIns="0" rIns="0" bIns="0" rtlCol="0" anchor="t"/>
          <a:lstStyle/>
          <a:p>
            <a:pPr indent="0" marL="0">
              <a:buNone/>
            </a:pPr>
            <a:r>
              <a:rPr lang="en-US" sz="1900" b="1" dirty="0">
                <a:solidFill>
                  <a:schemeClr val="tx1"/>
                </a:solidFill>
              </a:rPr>
              <a:t>Fusion comparison</a:t>
            </a:r>
            <a:endParaRPr lang="en-US" sz="1900" dirty="0"/>
          </a:p>
        </p:txBody>
      </p:sp>
      <p:sp>
        <p:nvSpPr>
          <p:cNvPr id="14" name="pending 1 pill"/>
          <p:cNvSpPr/>
          <p:nvPr/>
        </p:nvSpPr>
        <p:spPr>
          <a:xfrm>
            <a:off x="10058400" y="1746504"/>
            <a:ext cx="1280160" cy="292608"/>
          </a:xfrm>
          <a:prstGeom prst="roundRect">
            <a:avLst>
              <a:gd name="adj" fmla="val 50000"/>
            </a:avLst>
          </a:prstGeom>
          <a:solidFill>
            <a:schemeClr val="accent4"/>
          </a:solidFill>
          <a:ln/>
        </p:spPr>
      </p:sp>
      <p:sp>
        <p:nvSpPr>
          <p:cNvPr id="15" name="pending 1 pill text"/>
          <p:cNvSpPr txBox="1"/>
          <p:nvPr/>
        </p:nvSpPr>
        <p:spPr>
          <a:xfrm>
            <a:off x="10058400" y="1746504"/>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pending data</a:t>
            </a:r>
            <a:endParaRPr lang="en-US" sz="1100" dirty="0"/>
          </a:p>
        </p:txBody>
      </p:sp>
      <p:sp>
        <p:nvSpPr>
          <p:cNvPr id="16" name="Text 12"/>
          <p:cNvSpPr txBox="1"/>
          <p:nvPr/>
        </p:nvSpPr>
        <p:spPr>
          <a:xfrm>
            <a:off x="7406640" y="2194560"/>
            <a:ext cx="3977640" cy="868680"/>
          </a:xfrm>
          <a:prstGeom prst="rect">
            <a:avLst/>
          </a:prstGeom>
          <a:noFill/>
          <a:ln/>
        </p:spPr>
        <p:txBody>
          <a:bodyPr wrap="square" lIns="0" tIns="0" rIns="0" bIns="0" rtlCol="0" anchor="t"/>
          <a:lstStyle/>
          <a:p>
            <a:pPr indent="0" marL="0">
              <a:buNone/>
            </a:pPr>
            <a:r>
              <a:rPr lang="en-US" sz="1400" dirty="0">
                <a:solidFill>
                  <a:schemeClr val="tx1"/>
                </a:solidFill>
              </a:rPr>
              <a:t>Face-only vs voice-only vs late vs intermediate fusion, overall and per category</a:t>
            </a:r>
            <a:endParaRPr lang="en-US" sz="1400" dirty="0"/>
          </a:p>
        </p:txBody>
      </p:sp>
      <p:sp>
        <p:nvSpPr>
          <p:cNvPr id="17" name="pending card 2"/>
          <p:cNvSpPr/>
          <p:nvPr/>
        </p:nvSpPr>
        <p:spPr>
          <a:xfrm>
            <a:off x="548640" y="3429000"/>
            <a:ext cx="5394960" cy="1783080"/>
          </a:xfrm>
          <a:prstGeom prst="roundRect">
            <a:avLst>
              <a:gd name="adj" fmla="val 6154"/>
            </a:avLst>
          </a:prstGeom>
          <a:solidFill>
            <a:schemeClr val="bg2"/>
          </a:solidFill>
          <a:ln/>
        </p:spPr>
      </p:sp>
      <p:sp>
        <p:nvSpPr>
          <p:cNvPr id="18" name="pending Robustness circle"/>
          <p:cNvSpPr/>
          <p:nvPr/>
        </p:nvSpPr>
        <p:spPr>
          <a:xfrm>
            <a:off x="822960" y="3749040"/>
            <a:ext cx="685800" cy="685800"/>
          </a:xfrm>
          <a:prstGeom prst="ellipse">
            <a:avLst/>
          </a:prstGeom>
          <a:solidFill>
            <a:schemeClr val="accent1"/>
          </a:solidFill>
          <a:ln/>
        </p:spPr>
      </p:sp>
      <p:pic>
        <p:nvPicPr>
          <p:cNvPr id="19" name="pending Robustness icon" descr="preencoded.png">    </p:cNvPr>
          <p:cNvPicPr>
            <a:picLocks noChangeAspect="1"/>
          </p:cNvPicPr>
          <p:nvPr/>
        </p:nvPicPr>
        <p:blipFill>
          <a:blip r:embed="rId3"/>
          <a:stretch>
            <a:fillRect/>
          </a:stretch>
        </p:blipFill>
        <p:spPr>
          <a:xfrm>
            <a:off x="1001268" y="3927348"/>
            <a:ext cx="329184" cy="329184"/>
          </a:xfrm>
          <a:prstGeom prst="rect">
            <a:avLst/>
          </a:prstGeom>
        </p:spPr>
      </p:pic>
      <p:sp>
        <p:nvSpPr>
          <p:cNvPr id="20" name="Text 15"/>
          <p:cNvSpPr txBox="1"/>
          <p:nvPr/>
        </p:nvSpPr>
        <p:spPr>
          <a:xfrm>
            <a:off x="1737360" y="3703320"/>
            <a:ext cx="2560320" cy="411480"/>
          </a:xfrm>
          <a:prstGeom prst="rect">
            <a:avLst/>
          </a:prstGeom>
          <a:noFill/>
          <a:ln/>
        </p:spPr>
        <p:txBody>
          <a:bodyPr wrap="square" lIns="0" tIns="0" rIns="0" bIns="0" rtlCol="0" anchor="t"/>
          <a:lstStyle/>
          <a:p>
            <a:pPr indent="0" marL="0">
              <a:buNone/>
            </a:pPr>
            <a:r>
              <a:rPr lang="en-US" sz="1900" b="1" dirty="0">
                <a:solidFill>
                  <a:schemeClr val="tx1"/>
                </a:solidFill>
              </a:rPr>
              <a:t>Robustness</a:t>
            </a:r>
            <a:endParaRPr lang="en-US" sz="1900" dirty="0"/>
          </a:p>
        </p:txBody>
      </p:sp>
      <p:sp>
        <p:nvSpPr>
          <p:cNvPr id="21" name="pending 2 pill"/>
          <p:cNvSpPr/>
          <p:nvPr/>
        </p:nvSpPr>
        <p:spPr>
          <a:xfrm>
            <a:off x="4389120" y="3758184"/>
            <a:ext cx="1280160" cy="292608"/>
          </a:xfrm>
          <a:prstGeom prst="roundRect">
            <a:avLst>
              <a:gd name="adj" fmla="val 50000"/>
            </a:avLst>
          </a:prstGeom>
          <a:solidFill>
            <a:schemeClr val="accent4"/>
          </a:solidFill>
          <a:ln/>
        </p:spPr>
      </p:sp>
      <p:sp>
        <p:nvSpPr>
          <p:cNvPr id="22" name="pending 2 pill text"/>
          <p:cNvSpPr txBox="1"/>
          <p:nvPr/>
        </p:nvSpPr>
        <p:spPr>
          <a:xfrm>
            <a:off x="4389120" y="3758184"/>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pending data</a:t>
            </a:r>
            <a:endParaRPr lang="en-US" sz="1100" dirty="0"/>
          </a:p>
        </p:txBody>
      </p:sp>
      <p:sp>
        <p:nvSpPr>
          <p:cNvPr id="23" name="Text 18"/>
          <p:cNvSpPr txBox="1"/>
          <p:nvPr/>
        </p:nvSpPr>
        <p:spPr>
          <a:xfrm>
            <a:off x="1737360" y="4206240"/>
            <a:ext cx="3977640" cy="868680"/>
          </a:xfrm>
          <a:prstGeom prst="rect">
            <a:avLst/>
          </a:prstGeom>
          <a:noFill/>
          <a:ln/>
        </p:spPr>
        <p:txBody>
          <a:bodyPr wrap="square" lIns="0" tIns="0" rIns="0" bIns="0" rtlCol="0" anchor="t"/>
          <a:lstStyle/>
          <a:p>
            <a:pPr indent="0" marL="0">
              <a:buNone/>
            </a:pPr>
            <a:r>
              <a:rPr lang="en-US" sz="1400" dirty="0">
                <a:solidFill>
                  <a:schemeClr val="tx1"/>
                </a:solidFill>
              </a:rPr>
              <a:t>7 degradations × 3 severities, missing modality, standard vs robust training</a:t>
            </a:r>
            <a:endParaRPr lang="en-US" sz="1400" dirty="0"/>
          </a:p>
        </p:txBody>
      </p:sp>
      <p:sp>
        <p:nvSpPr>
          <p:cNvPr id="24" name="pending card 3"/>
          <p:cNvSpPr/>
          <p:nvPr/>
        </p:nvSpPr>
        <p:spPr>
          <a:xfrm>
            <a:off x="6217920" y="3429000"/>
            <a:ext cx="5394960" cy="1783080"/>
          </a:xfrm>
          <a:prstGeom prst="roundRect">
            <a:avLst>
              <a:gd name="adj" fmla="val 6154"/>
            </a:avLst>
          </a:prstGeom>
          <a:solidFill>
            <a:schemeClr val="bg2"/>
          </a:solidFill>
          <a:ln/>
        </p:spPr>
      </p:sp>
      <p:sp>
        <p:nvSpPr>
          <p:cNvPr id="25" name="pending Voice fine-tuning circle"/>
          <p:cNvSpPr/>
          <p:nvPr/>
        </p:nvSpPr>
        <p:spPr>
          <a:xfrm>
            <a:off x="6492240" y="3749040"/>
            <a:ext cx="685800" cy="685800"/>
          </a:xfrm>
          <a:prstGeom prst="ellipse">
            <a:avLst/>
          </a:prstGeom>
          <a:solidFill>
            <a:schemeClr val="accent1"/>
          </a:solidFill>
          <a:ln/>
        </p:spPr>
      </p:sp>
      <p:pic>
        <p:nvPicPr>
          <p:cNvPr id="26" name="pending Voice fine-tuning icon" descr="preencoded.png">    </p:cNvPr>
          <p:cNvPicPr>
            <a:picLocks noChangeAspect="1"/>
          </p:cNvPicPr>
          <p:nvPr/>
        </p:nvPicPr>
        <p:blipFill>
          <a:blip r:embed="rId4"/>
          <a:stretch>
            <a:fillRect/>
          </a:stretch>
        </p:blipFill>
        <p:spPr>
          <a:xfrm>
            <a:off x="6670548" y="3927348"/>
            <a:ext cx="329184" cy="329184"/>
          </a:xfrm>
          <a:prstGeom prst="rect">
            <a:avLst/>
          </a:prstGeom>
        </p:spPr>
      </p:pic>
      <p:sp>
        <p:nvSpPr>
          <p:cNvPr id="27" name="Text 21"/>
          <p:cNvSpPr txBox="1"/>
          <p:nvPr/>
        </p:nvSpPr>
        <p:spPr>
          <a:xfrm>
            <a:off x="7406640" y="3703320"/>
            <a:ext cx="2560320" cy="411480"/>
          </a:xfrm>
          <a:prstGeom prst="rect">
            <a:avLst/>
          </a:prstGeom>
          <a:noFill/>
          <a:ln/>
        </p:spPr>
        <p:txBody>
          <a:bodyPr wrap="square" lIns="0" tIns="0" rIns="0" bIns="0" rtlCol="0" anchor="t"/>
          <a:lstStyle/>
          <a:p>
            <a:pPr indent="0" marL="0">
              <a:buNone/>
            </a:pPr>
            <a:r>
              <a:rPr lang="en-US" sz="1900" b="1" dirty="0">
                <a:solidFill>
                  <a:schemeClr val="tx1"/>
                </a:solidFill>
              </a:rPr>
              <a:t>Voice fine-tuning</a:t>
            </a:r>
            <a:endParaRPr lang="en-US" sz="1900" dirty="0"/>
          </a:p>
        </p:txBody>
      </p:sp>
      <p:sp>
        <p:nvSpPr>
          <p:cNvPr id="28" name="pending 3 pill"/>
          <p:cNvSpPr/>
          <p:nvPr/>
        </p:nvSpPr>
        <p:spPr>
          <a:xfrm>
            <a:off x="10058400" y="3758184"/>
            <a:ext cx="1280160" cy="292608"/>
          </a:xfrm>
          <a:prstGeom prst="roundRect">
            <a:avLst>
              <a:gd name="adj" fmla="val 50000"/>
            </a:avLst>
          </a:prstGeom>
          <a:solidFill>
            <a:schemeClr val="accent4"/>
          </a:solidFill>
          <a:ln/>
        </p:spPr>
      </p:sp>
      <p:sp>
        <p:nvSpPr>
          <p:cNvPr id="29" name="pending 3 pill text"/>
          <p:cNvSpPr txBox="1"/>
          <p:nvPr/>
        </p:nvSpPr>
        <p:spPr>
          <a:xfrm>
            <a:off x="10058400" y="3758184"/>
            <a:ext cx="1280160" cy="292608"/>
          </a:xfrm>
          <a:prstGeom prst="rect">
            <a:avLst/>
          </a:prstGeom>
          <a:noFill/>
          <a:ln/>
        </p:spPr>
        <p:txBody>
          <a:bodyPr wrap="square" lIns="0" tIns="0" rIns="0" bIns="0" rtlCol="0" anchor="ctr"/>
          <a:lstStyle/>
          <a:p>
            <a:pPr algn="ctr" indent="0" marL="0">
              <a:buNone/>
            </a:pPr>
            <a:r>
              <a:rPr lang="en-US" sz="1100" b="1" dirty="0">
                <a:solidFill>
                  <a:schemeClr val="bg1"/>
                </a:solidFill>
              </a:rPr>
              <a:t>pending data</a:t>
            </a:r>
            <a:endParaRPr lang="en-US" sz="1100" dirty="0"/>
          </a:p>
        </p:txBody>
      </p:sp>
      <p:sp>
        <p:nvSpPr>
          <p:cNvPr id="30" name="Text 24"/>
          <p:cNvSpPr txBox="1"/>
          <p:nvPr/>
        </p:nvSpPr>
        <p:spPr>
          <a:xfrm>
            <a:off x="7406640" y="4206240"/>
            <a:ext cx="3977640" cy="868680"/>
          </a:xfrm>
          <a:prstGeom prst="rect">
            <a:avLst/>
          </a:prstGeom>
          <a:noFill/>
          <a:ln/>
        </p:spPr>
        <p:txBody>
          <a:bodyPr wrap="square" lIns="0" tIns="0" rIns="0" bIns="0" rtlCol="0" anchor="t"/>
          <a:lstStyle/>
          <a:p>
            <a:pPr indent="0" marL="0">
              <a:buNone/>
            </a:pPr>
            <a:r>
              <a:rPr lang="en-US" sz="1400" dirty="0">
                <a:solidFill>
                  <a:schemeClr val="tx1"/>
                </a:solidFill>
              </a:rPr>
              <a:t>ASVspoof model fine-tuned on FakeAVCeleb; with vs without pre-training</a:t>
            </a:r>
            <a:endParaRPr lang="en-US" sz="1400" dirty="0"/>
          </a:p>
        </p:txBody>
      </p:sp>
      <p:sp>
        <p:nvSpPr>
          <p:cNvPr id="31" name="tests card"/>
          <p:cNvSpPr/>
          <p:nvPr/>
        </p:nvSpPr>
        <p:spPr>
          <a:xfrm>
            <a:off x="548640" y="5486400"/>
            <a:ext cx="11094415" cy="640080"/>
          </a:xfrm>
          <a:prstGeom prst="roundRect">
            <a:avLst>
              <a:gd name="adj" fmla="val 17143"/>
            </a:avLst>
          </a:prstGeom>
          <a:solidFill>
            <a:schemeClr val="bg1"/>
          </a:solidFill>
          <a:ln/>
        </p:spPr>
      </p:sp>
      <p:sp>
        <p:nvSpPr>
          <p:cNvPr id="32" name="tests circle"/>
          <p:cNvSpPr/>
          <p:nvPr/>
        </p:nvSpPr>
        <p:spPr>
          <a:xfrm>
            <a:off x="548640" y="5532120"/>
            <a:ext cx="502920" cy="502920"/>
          </a:xfrm>
          <a:prstGeom prst="ellipse">
            <a:avLst/>
          </a:prstGeom>
          <a:solidFill>
            <a:schemeClr val="accent3"/>
          </a:solidFill>
          <a:ln/>
        </p:spPr>
      </p:sp>
      <p:pic>
        <p:nvPicPr>
          <p:cNvPr id="33" name="tests icon" descr="preencoded.png">    </p:cNvPr>
          <p:cNvPicPr>
            <a:picLocks noChangeAspect="1"/>
          </p:cNvPicPr>
          <p:nvPr/>
        </p:nvPicPr>
        <p:blipFill>
          <a:blip r:embed="rId5"/>
          <a:stretch>
            <a:fillRect/>
          </a:stretch>
        </p:blipFill>
        <p:spPr>
          <a:xfrm>
            <a:off x="679399" y="5662879"/>
            <a:ext cx="241402" cy="241402"/>
          </a:xfrm>
          <a:prstGeom prst="rect">
            <a:avLst/>
          </a:prstGeom>
        </p:spPr>
      </p:pic>
      <p:sp>
        <p:nvSpPr>
          <p:cNvPr id="34" name="Text 27"/>
          <p:cNvSpPr txBox="1"/>
          <p:nvPr/>
        </p:nvSpPr>
        <p:spPr>
          <a:xfrm>
            <a:off x="1234440" y="5532120"/>
            <a:ext cx="10408615" cy="502920"/>
          </a:xfrm>
          <a:prstGeom prst="rect">
            <a:avLst/>
          </a:prstGeom>
          <a:noFill/>
          <a:ln/>
        </p:spPr>
        <p:txBody>
          <a:bodyPr wrap="square" lIns="0" tIns="0" rIns="0" bIns="0" rtlCol="0" anchor="ctr"/>
          <a:lstStyle/>
          <a:p>
            <a:pPr indent="0" marL="0">
              <a:buNone/>
            </a:pPr>
            <a:r>
              <a:rPr lang="en-US" sz="1500" dirty="0">
                <a:solidFill>
                  <a:schemeClr val="tx1"/>
                </a:solidFill>
              </a:rPr>
              <a:t>Every code path above runs end to end on synthetic data: 82 automated tests pass. Only the real-data runs are missing.</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Development status by phase</a:t>
            </a:r>
            <a:endParaRPr lang="en-US" sz="3200" dirty="0"/>
          </a:p>
        </p:txBody>
      </p:sp>
      <p:sp>
        <p:nvSpPr>
          <p:cNvPr id="3" name="timeline line"/>
          <p:cNvSpPr/>
          <p:nvPr/>
        </p:nvSpPr>
        <p:spPr>
          <a:xfrm>
            <a:off x="1164996" y="1828800"/>
            <a:ext cx="9861702" cy="0"/>
          </a:xfrm>
          <a:prstGeom prst="line">
            <a:avLst/>
          </a:prstGeom>
          <a:noFill/>
          <a:ln w="25400">
            <a:solidFill>
              <a:srgbClr val="CBD5E1"/>
            </a:solidFill>
            <a:prstDash val="solid"/>
          </a:ln>
        </p:spPr>
      </p:sp>
      <p:sp>
        <p:nvSpPr>
          <p:cNvPr id="4" name="phase node 0"/>
          <p:cNvSpPr/>
          <p:nvPr/>
        </p:nvSpPr>
        <p:spPr>
          <a:xfrm>
            <a:off x="863244" y="1527048"/>
            <a:ext cx="603504" cy="603504"/>
          </a:xfrm>
          <a:prstGeom prst="ellipse">
            <a:avLst/>
          </a:prstGeom>
          <a:solidFill>
            <a:schemeClr val="accent1"/>
          </a:solidFill>
          <a:ln w="38100">
            <a:solidFill>
              <a:srgbClr val="FFFFFF"/>
            </a:solidFill>
            <a:prstDash val="solid"/>
          </a:ln>
        </p:spPr>
      </p:sp>
      <p:sp>
        <p:nvSpPr>
          <p:cNvPr id="5" name="Text 3"/>
          <p:cNvSpPr txBox="1"/>
          <p:nvPr/>
        </p:nvSpPr>
        <p:spPr>
          <a:xfrm>
            <a:off x="863244"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0</a:t>
            </a:r>
            <a:endParaRPr lang="en-US" sz="1800" dirty="0"/>
          </a:p>
        </p:txBody>
      </p:sp>
      <p:sp>
        <p:nvSpPr>
          <p:cNvPr id="6" name="Text 4"/>
          <p:cNvSpPr txBox="1"/>
          <p:nvPr/>
        </p:nvSpPr>
        <p:spPr>
          <a:xfrm>
            <a:off x="576072"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Setup</a:t>
            </a:r>
            <a:endParaRPr lang="en-US" sz="1400" dirty="0"/>
          </a:p>
        </p:txBody>
      </p:sp>
      <p:sp>
        <p:nvSpPr>
          <p:cNvPr id="7" name="Text 5"/>
          <p:cNvSpPr txBox="1"/>
          <p:nvPr/>
        </p:nvSpPr>
        <p:spPr>
          <a:xfrm>
            <a:off x="548640"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8" name="Text 6"/>
          <p:cNvSpPr txBox="1"/>
          <p:nvPr/>
        </p:nvSpPr>
        <p:spPr>
          <a:xfrm>
            <a:off x="548640"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9" name="Text 7"/>
          <p:cNvSpPr txBox="1"/>
          <p:nvPr/>
        </p:nvSpPr>
        <p:spPr>
          <a:xfrm>
            <a:off x="548640"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10" name="Text 8"/>
          <p:cNvSpPr txBox="1"/>
          <p:nvPr/>
        </p:nvSpPr>
        <p:spPr>
          <a:xfrm>
            <a:off x="548640" y="4160520"/>
            <a:ext cx="1232713" cy="320040"/>
          </a:xfrm>
          <a:prstGeom prst="rect">
            <a:avLst/>
          </a:prstGeom>
          <a:noFill/>
          <a:ln/>
        </p:spPr>
        <p:txBody>
          <a:bodyPr wrap="square" lIns="0" tIns="0" rIns="0" bIns="0" rtlCol="0" anchor="t"/>
          <a:lstStyle/>
          <a:p>
            <a:pPr algn="ctr" indent="0" marL="0">
              <a:buNone/>
            </a:pPr>
            <a:r>
              <a:rPr lang="en-US" sz="1400" b="1" dirty="0">
                <a:solidFill>
                  <a:schemeClr val="accent5"/>
                </a:solidFill>
              </a:rPr>
              <a:t>n/a</a:t>
            </a:r>
            <a:endParaRPr lang="en-US" sz="1400" dirty="0"/>
          </a:p>
        </p:txBody>
      </p:sp>
      <p:sp>
        <p:nvSpPr>
          <p:cNvPr id="11" name="phase node 1"/>
          <p:cNvSpPr/>
          <p:nvPr/>
        </p:nvSpPr>
        <p:spPr>
          <a:xfrm>
            <a:off x="2095957" y="1527048"/>
            <a:ext cx="603504" cy="603504"/>
          </a:xfrm>
          <a:prstGeom prst="ellipse">
            <a:avLst/>
          </a:prstGeom>
          <a:solidFill>
            <a:schemeClr val="accent1"/>
          </a:solidFill>
          <a:ln w="38100">
            <a:solidFill>
              <a:srgbClr val="FFFFFF"/>
            </a:solidFill>
            <a:prstDash val="solid"/>
          </a:ln>
        </p:spPr>
      </p:sp>
      <p:sp>
        <p:nvSpPr>
          <p:cNvPr id="12" name="Text 10"/>
          <p:cNvSpPr txBox="1"/>
          <p:nvPr/>
        </p:nvSpPr>
        <p:spPr>
          <a:xfrm>
            <a:off x="2095957"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3" name="Text 11"/>
          <p:cNvSpPr txBox="1"/>
          <p:nvPr/>
        </p:nvSpPr>
        <p:spPr>
          <a:xfrm>
            <a:off x="1808785"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Data pipeline</a:t>
            </a:r>
            <a:endParaRPr lang="en-US" sz="1400" dirty="0"/>
          </a:p>
        </p:txBody>
      </p:sp>
      <p:sp>
        <p:nvSpPr>
          <p:cNvPr id="14" name="Text 12"/>
          <p:cNvSpPr txBox="1"/>
          <p:nvPr/>
        </p:nvSpPr>
        <p:spPr>
          <a:xfrm>
            <a:off x="1781353"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15" name="Text 13"/>
          <p:cNvSpPr txBox="1"/>
          <p:nvPr/>
        </p:nvSpPr>
        <p:spPr>
          <a:xfrm>
            <a:off x="1781353"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16" name="Text 14"/>
          <p:cNvSpPr txBox="1"/>
          <p:nvPr/>
        </p:nvSpPr>
        <p:spPr>
          <a:xfrm>
            <a:off x="1781353"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17" name="Text 15"/>
          <p:cNvSpPr txBox="1"/>
          <p:nvPr/>
        </p:nvSpPr>
        <p:spPr>
          <a:xfrm>
            <a:off x="1781353" y="4160520"/>
            <a:ext cx="1232713" cy="320040"/>
          </a:xfrm>
          <a:prstGeom prst="rect">
            <a:avLst/>
          </a:prstGeom>
          <a:noFill/>
          <a:ln/>
        </p:spPr>
        <p:txBody>
          <a:bodyPr wrap="square" lIns="0" tIns="0" rIns="0" bIns="0" rtlCol="0" anchor="t"/>
          <a:lstStyle/>
          <a:p>
            <a:pPr algn="ctr" indent="0" marL="0">
              <a:buNone/>
            </a:pPr>
            <a:r>
              <a:rPr lang="en-US" sz="1400" b="1" dirty="0">
                <a:solidFill>
                  <a:schemeClr val="accent1"/>
                </a:solidFill>
              </a:rPr>
              <a:t>partial</a:t>
            </a:r>
            <a:endParaRPr lang="en-US" sz="1400" dirty="0"/>
          </a:p>
        </p:txBody>
      </p:sp>
      <p:sp>
        <p:nvSpPr>
          <p:cNvPr id="18" name="phase node 2"/>
          <p:cNvSpPr/>
          <p:nvPr/>
        </p:nvSpPr>
        <p:spPr>
          <a:xfrm>
            <a:off x="3328670" y="1527048"/>
            <a:ext cx="603504" cy="603504"/>
          </a:xfrm>
          <a:prstGeom prst="ellipse">
            <a:avLst/>
          </a:prstGeom>
          <a:solidFill>
            <a:schemeClr val="accent4"/>
          </a:solidFill>
          <a:ln w="38100">
            <a:solidFill>
              <a:srgbClr val="FFFFFF"/>
            </a:solidFill>
            <a:prstDash val="solid"/>
          </a:ln>
        </p:spPr>
      </p:sp>
      <p:sp>
        <p:nvSpPr>
          <p:cNvPr id="19" name="Text 17"/>
          <p:cNvSpPr txBox="1"/>
          <p:nvPr/>
        </p:nvSpPr>
        <p:spPr>
          <a:xfrm>
            <a:off x="3328670"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0" name="Text 18"/>
          <p:cNvSpPr txBox="1"/>
          <p:nvPr/>
        </p:nvSpPr>
        <p:spPr>
          <a:xfrm>
            <a:off x="3041498"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Face branch</a:t>
            </a:r>
            <a:endParaRPr lang="en-US" sz="1400" dirty="0"/>
          </a:p>
        </p:txBody>
      </p:sp>
      <p:sp>
        <p:nvSpPr>
          <p:cNvPr id="21" name="Text 19"/>
          <p:cNvSpPr txBox="1"/>
          <p:nvPr/>
        </p:nvSpPr>
        <p:spPr>
          <a:xfrm>
            <a:off x="3014066"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22" name="Text 20"/>
          <p:cNvSpPr txBox="1"/>
          <p:nvPr/>
        </p:nvSpPr>
        <p:spPr>
          <a:xfrm>
            <a:off x="3014066"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23" name="Text 21"/>
          <p:cNvSpPr txBox="1"/>
          <p:nvPr/>
        </p:nvSpPr>
        <p:spPr>
          <a:xfrm>
            <a:off x="3014066"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24" name="Text 22"/>
          <p:cNvSpPr txBox="1"/>
          <p:nvPr/>
        </p:nvSpPr>
        <p:spPr>
          <a:xfrm>
            <a:off x="3014066" y="4160520"/>
            <a:ext cx="1232713" cy="320040"/>
          </a:xfrm>
          <a:prstGeom prst="rect">
            <a:avLst/>
          </a:prstGeom>
          <a:noFill/>
          <a:ln/>
        </p:spPr>
        <p:txBody>
          <a:bodyPr wrap="square" lIns="0" tIns="0" rIns="0" bIns="0" rtlCol="0" anchor="t"/>
          <a:lstStyle/>
          <a:p>
            <a:pPr algn="ctr" indent="0" marL="0">
              <a:buNone/>
            </a:pPr>
            <a:r>
              <a:rPr lang="en-US" sz="1400" b="1" dirty="0">
                <a:solidFill>
                  <a:schemeClr val="accent4"/>
                </a:solidFill>
              </a:rPr>
              <a:t>pending</a:t>
            </a:r>
            <a:endParaRPr lang="en-US" sz="1400" dirty="0"/>
          </a:p>
        </p:txBody>
      </p:sp>
      <p:sp>
        <p:nvSpPr>
          <p:cNvPr id="25" name="phase node 3"/>
          <p:cNvSpPr/>
          <p:nvPr/>
        </p:nvSpPr>
        <p:spPr>
          <a:xfrm>
            <a:off x="4561383" y="1527048"/>
            <a:ext cx="603504" cy="603504"/>
          </a:xfrm>
          <a:prstGeom prst="ellipse">
            <a:avLst/>
          </a:prstGeom>
          <a:solidFill>
            <a:schemeClr val="accent1"/>
          </a:solidFill>
          <a:ln w="38100">
            <a:solidFill>
              <a:srgbClr val="FFFFFF"/>
            </a:solidFill>
            <a:prstDash val="solid"/>
          </a:ln>
        </p:spPr>
      </p:sp>
      <p:sp>
        <p:nvSpPr>
          <p:cNvPr id="26" name="Text 24"/>
          <p:cNvSpPr txBox="1"/>
          <p:nvPr/>
        </p:nvSpPr>
        <p:spPr>
          <a:xfrm>
            <a:off x="4561383"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7" name="Text 25"/>
          <p:cNvSpPr txBox="1"/>
          <p:nvPr/>
        </p:nvSpPr>
        <p:spPr>
          <a:xfrm>
            <a:off x="4274210"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Voice branch</a:t>
            </a:r>
            <a:endParaRPr lang="en-US" sz="1400" dirty="0"/>
          </a:p>
        </p:txBody>
      </p:sp>
      <p:sp>
        <p:nvSpPr>
          <p:cNvPr id="28" name="Text 26"/>
          <p:cNvSpPr txBox="1"/>
          <p:nvPr/>
        </p:nvSpPr>
        <p:spPr>
          <a:xfrm>
            <a:off x="4246778"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29" name="Text 27"/>
          <p:cNvSpPr txBox="1"/>
          <p:nvPr/>
        </p:nvSpPr>
        <p:spPr>
          <a:xfrm>
            <a:off x="4246778"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30" name="Text 28"/>
          <p:cNvSpPr txBox="1"/>
          <p:nvPr/>
        </p:nvSpPr>
        <p:spPr>
          <a:xfrm>
            <a:off x="4246778"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31" name="Text 29"/>
          <p:cNvSpPr txBox="1"/>
          <p:nvPr/>
        </p:nvSpPr>
        <p:spPr>
          <a:xfrm>
            <a:off x="4246778" y="416052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32" name="phase node 4"/>
          <p:cNvSpPr/>
          <p:nvPr/>
        </p:nvSpPr>
        <p:spPr>
          <a:xfrm>
            <a:off x="5794096" y="1527048"/>
            <a:ext cx="603504" cy="603504"/>
          </a:xfrm>
          <a:prstGeom prst="ellipse">
            <a:avLst/>
          </a:prstGeom>
          <a:solidFill>
            <a:schemeClr val="accent4"/>
          </a:solidFill>
          <a:ln w="38100">
            <a:solidFill>
              <a:srgbClr val="FFFFFF"/>
            </a:solidFill>
            <a:prstDash val="solid"/>
          </a:ln>
        </p:spPr>
      </p:sp>
      <p:sp>
        <p:nvSpPr>
          <p:cNvPr id="33" name="Text 31"/>
          <p:cNvSpPr txBox="1"/>
          <p:nvPr/>
        </p:nvSpPr>
        <p:spPr>
          <a:xfrm>
            <a:off x="5794096"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4" name="Text 32"/>
          <p:cNvSpPr txBox="1"/>
          <p:nvPr/>
        </p:nvSpPr>
        <p:spPr>
          <a:xfrm>
            <a:off x="5506923"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Fusion</a:t>
            </a:r>
            <a:endParaRPr lang="en-US" sz="1400" dirty="0"/>
          </a:p>
        </p:txBody>
      </p:sp>
      <p:sp>
        <p:nvSpPr>
          <p:cNvPr id="35" name="Text 33"/>
          <p:cNvSpPr txBox="1"/>
          <p:nvPr/>
        </p:nvSpPr>
        <p:spPr>
          <a:xfrm>
            <a:off x="5479491"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36" name="Text 34"/>
          <p:cNvSpPr txBox="1"/>
          <p:nvPr/>
        </p:nvSpPr>
        <p:spPr>
          <a:xfrm>
            <a:off x="5479491"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37" name="Text 35"/>
          <p:cNvSpPr txBox="1"/>
          <p:nvPr/>
        </p:nvSpPr>
        <p:spPr>
          <a:xfrm>
            <a:off x="5479491"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38" name="Text 36"/>
          <p:cNvSpPr txBox="1"/>
          <p:nvPr/>
        </p:nvSpPr>
        <p:spPr>
          <a:xfrm>
            <a:off x="5479491" y="4160520"/>
            <a:ext cx="1232713" cy="320040"/>
          </a:xfrm>
          <a:prstGeom prst="rect">
            <a:avLst/>
          </a:prstGeom>
          <a:noFill/>
          <a:ln/>
        </p:spPr>
        <p:txBody>
          <a:bodyPr wrap="square" lIns="0" tIns="0" rIns="0" bIns="0" rtlCol="0" anchor="t"/>
          <a:lstStyle/>
          <a:p>
            <a:pPr algn="ctr" indent="0" marL="0">
              <a:buNone/>
            </a:pPr>
            <a:r>
              <a:rPr lang="en-US" sz="1400" b="1" dirty="0">
                <a:solidFill>
                  <a:schemeClr val="accent4"/>
                </a:solidFill>
              </a:rPr>
              <a:t>pending</a:t>
            </a:r>
            <a:endParaRPr lang="en-US" sz="1400" dirty="0"/>
          </a:p>
        </p:txBody>
      </p:sp>
      <p:sp>
        <p:nvSpPr>
          <p:cNvPr id="39" name="phase node 5"/>
          <p:cNvSpPr/>
          <p:nvPr/>
        </p:nvSpPr>
        <p:spPr>
          <a:xfrm>
            <a:off x="7026808" y="1527048"/>
            <a:ext cx="603504" cy="603504"/>
          </a:xfrm>
          <a:prstGeom prst="ellipse">
            <a:avLst/>
          </a:prstGeom>
          <a:solidFill>
            <a:schemeClr val="accent4"/>
          </a:solidFill>
          <a:ln w="38100">
            <a:solidFill>
              <a:srgbClr val="FFFFFF"/>
            </a:solidFill>
            <a:prstDash val="solid"/>
          </a:ln>
        </p:spPr>
      </p:sp>
      <p:sp>
        <p:nvSpPr>
          <p:cNvPr id="40" name="Text 38"/>
          <p:cNvSpPr txBox="1"/>
          <p:nvPr/>
        </p:nvSpPr>
        <p:spPr>
          <a:xfrm>
            <a:off x="7026808"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41" name="Text 39"/>
          <p:cNvSpPr txBox="1"/>
          <p:nvPr/>
        </p:nvSpPr>
        <p:spPr>
          <a:xfrm>
            <a:off x="6739636"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Robustness</a:t>
            </a:r>
            <a:endParaRPr lang="en-US" sz="1400" dirty="0"/>
          </a:p>
        </p:txBody>
      </p:sp>
      <p:sp>
        <p:nvSpPr>
          <p:cNvPr id="42" name="Text 40"/>
          <p:cNvSpPr txBox="1"/>
          <p:nvPr/>
        </p:nvSpPr>
        <p:spPr>
          <a:xfrm>
            <a:off x="6712204"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43" name="Text 41"/>
          <p:cNvSpPr txBox="1"/>
          <p:nvPr/>
        </p:nvSpPr>
        <p:spPr>
          <a:xfrm>
            <a:off x="6712204"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44" name="Text 42"/>
          <p:cNvSpPr txBox="1"/>
          <p:nvPr/>
        </p:nvSpPr>
        <p:spPr>
          <a:xfrm>
            <a:off x="6712204"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45" name="Text 43"/>
          <p:cNvSpPr txBox="1"/>
          <p:nvPr/>
        </p:nvSpPr>
        <p:spPr>
          <a:xfrm>
            <a:off x="6712204" y="4160520"/>
            <a:ext cx="1232713" cy="320040"/>
          </a:xfrm>
          <a:prstGeom prst="rect">
            <a:avLst/>
          </a:prstGeom>
          <a:noFill/>
          <a:ln/>
        </p:spPr>
        <p:txBody>
          <a:bodyPr wrap="square" lIns="0" tIns="0" rIns="0" bIns="0" rtlCol="0" anchor="t"/>
          <a:lstStyle/>
          <a:p>
            <a:pPr algn="ctr" indent="0" marL="0">
              <a:buNone/>
            </a:pPr>
            <a:r>
              <a:rPr lang="en-US" sz="1400" b="1" dirty="0">
                <a:solidFill>
                  <a:schemeClr val="accent4"/>
                </a:solidFill>
              </a:rPr>
              <a:t>pending</a:t>
            </a:r>
            <a:endParaRPr lang="en-US" sz="1400" dirty="0"/>
          </a:p>
        </p:txBody>
      </p:sp>
      <p:sp>
        <p:nvSpPr>
          <p:cNvPr id="46" name="phase node 6"/>
          <p:cNvSpPr/>
          <p:nvPr/>
        </p:nvSpPr>
        <p:spPr>
          <a:xfrm>
            <a:off x="8259521" y="1527048"/>
            <a:ext cx="603504" cy="603504"/>
          </a:xfrm>
          <a:prstGeom prst="ellipse">
            <a:avLst/>
          </a:prstGeom>
          <a:solidFill>
            <a:schemeClr val="accent1"/>
          </a:solidFill>
          <a:ln w="38100">
            <a:solidFill>
              <a:srgbClr val="FFFFFF"/>
            </a:solidFill>
            <a:prstDash val="solid"/>
          </a:ln>
        </p:spPr>
      </p:sp>
      <p:sp>
        <p:nvSpPr>
          <p:cNvPr id="47" name="Text 45"/>
          <p:cNvSpPr txBox="1"/>
          <p:nvPr/>
        </p:nvSpPr>
        <p:spPr>
          <a:xfrm>
            <a:off x="8259521"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48" name="Text 46"/>
          <p:cNvSpPr txBox="1"/>
          <p:nvPr/>
        </p:nvSpPr>
        <p:spPr>
          <a:xfrm>
            <a:off x="7972349"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Explain-</a:t>
            </a:r>
            <a:endParaRPr lang="en-US" sz="1400" dirty="0"/>
          </a:p>
          <a:p>
            <a:pPr algn="ctr" indent="0" marL="0">
              <a:buNone/>
            </a:pPr>
            <a:r>
              <a:rPr lang="en-US" sz="1400" b="1" dirty="0">
                <a:solidFill>
                  <a:schemeClr val="tx1"/>
                </a:solidFill>
              </a:rPr>
              <a:t>ability</a:t>
            </a:r>
            <a:endParaRPr lang="en-US" sz="1400" dirty="0"/>
          </a:p>
        </p:txBody>
      </p:sp>
      <p:sp>
        <p:nvSpPr>
          <p:cNvPr id="49" name="Text 47"/>
          <p:cNvSpPr txBox="1"/>
          <p:nvPr/>
        </p:nvSpPr>
        <p:spPr>
          <a:xfrm>
            <a:off x="7944917"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50" name="Text 48"/>
          <p:cNvSpPr txBox="1"/>
          <p:nvPr/>
        </p:nvSpPr>
        <p:spPr>
          <a:xfrm>
            <a:off x="7944917"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51" name="Text 49"/>
          <p:cNvSpPr txBox="1"/>
          <p:nvPr/>
        </p:nvSpPr>
        <p:spPr>
          <a:xfrm>
            <a:off x="7944917"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52" name="Text 50"/>
          <p:cNvSpPr txBox="1"/>
          <p:nvPr/>
        </p:nvSpPr>
        <p:spPr>
          <a:xfrm>
            <a:off x="7944917" y="4160520"/>
            <a:ext cx="1232713" cy="320040"/>
          </a:xfrm>
          <a:prstGeom prst="rect">
            <a:avLst/>
          </a:prstGeom>
          <a:noFill/>
          <a:ln/>
        </p:spPr>
        <p:txBody>
          <a:bodyPr wrap="square" lIns="0" tIns="0" rIns="0" bIns="0" rtlCol="0" anchor="t"/>
          <a:lstStyle/>
          <a:p>
            <a:pPr algn="ctr" indent="0" marL="0">
              <a:buNone/>
            </a:pPr>
            <a:r>
              <a:rPr lang="en-US" sz="1400" b="1" dirty="0">
                <a:solidFill>
                  <a:schemeClr val="accent1"/>
                </a:solidFill>
              </a:rPr>
              <a:t>partial</a:t>
            </a:r>
            <a:endParaRPr lang="en-US" sz="1400" dirty="0"/>
          </a:p>
        </p:txBody>
      </p:sp>
      <p:sp>
        <p:nvSpPr>
          <p:cNvPr id="53" name="phase node 7"/>
          <p:cNvSpPr/>
          <p:nvPr/>
        </p:nvSpPr>
        <p:spPr>
          <a:xfrm>
            <a:off x="9492234" y="1527048"/>
            <a:ext cx="603504" cy="603504"/>
          </a:xfrm>
          <a:prstGeom prst="ellipse">
            <a:avLst/>
          </a:prstGeom>
          <a:solidFill>
            <a:schemeClr val="accent1"/>
          </a:solidFill>
          <a:ln w="38100">
            <a:solidFill>
              <a:srgbClr val="FFFFFF"/>
            </a:solidFill>
            <a:prstDash val="solid"/>
          </a:ln>
        </p:spPr>
      </p:sp>
      <p:sp>
        <p:nvSpPr>
          <p:cNvPr id="54" name="Text 52"/>
          <p:cNvSpPr txBox="1"/>
          <p:nvPr/>
        </p:nvSpPr>
        <p:spPr>
          <a:xfrm>
            <a:off x="9492234"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55" name="Text 53"/>
          <p:cNvSpPr txBox="1"/>
          <p:nvPr/>
        </p:nvSpPr>
        <p:spPr>
          <a:xfrm>
            <a:off x="9205062"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Demo app</a:t>
            </a:r>
            <a:endParaRPr lang="en-US" sz="1400" dirty="0"/>
          </a:p>
        </p:txBody>
      </p:sp>
      <p:sp>
        <p:nvSpPr>
          <p:cNvPr id="56" name="Text 54"/>
          <p:cNvSpPr txBox="1"/>
          <p:nvPr/>
        </p:nvSpPr>
        <p:spPr>
          <a:xfrm>
            <a:off x="9177630"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57" name="Text 55"/>
          <p:cNvSpPr txBox="1"/>
          <p:nvPr/>
        </p:nvSpPr>
        <p:spPr>
          <a:xfrm>
            <a:off x="9177630"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58" name="Text 56"/>
          <p:cNvSpPr txBox="1"/>
          <p:nvPr/>
        </p:nvSpPr>
        <p:spPr>
          <a:xfrm>
            <a:off x="9177630"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59" name="Text 57"/>
          <p:cNvSpPr txBox="1"/>
          <p:nvPr/>
        </p:nvSpPr>
        <p:spPr>
          <a:xfrm>
            <a:off x="9177630" y="416052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60" name="phase node 8"/>
          <p:cNvSpPr/>
          <p:nvPr/>
        </p:nvSpPr>
        <p:spPr>
          <a:xfrm>
            <a:off x="10724947" y="1527048"/>
            <a:ext cx="603504" cy="603504"/>
          </a:xfrm>
          <a:prstGeom prst="ellipse">
            <a:avLst/>
          </a:prstGeom>
          <a:solidFill>
            <a:schemeClr val="accent1"/>
          </a:solidFill>
          <a:ln w="38100">
            <a:solidFill>
              <a:srgbClr val="FFFFFF"/>
            </a:solidFill>
            <a:prstDash val="solid"/>
          </a:ln>
        </p:spPr>
      </p:sp>
      <p:sp>
        <p:nvSpPr>
          <p:cNvPr id="61" name="Text 59"/>
          <p:cNvSpPr txBox="1"/>
          <p:nvPr/>
        </p:nvSpPr>
        <p:spPr>
          <a:xfrm>
            <a:off x="10724947" y="1527048"/>
            <a:ext cx="603504" cy="603504"/>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62" name="Text 60"/>
          <p:cNvSpPr txBox="1"/>
          <p:nvPr/>
        </p:nvSpPr>
        <p:spPr>
          <a:xfrm>
            <a:off x="10437774" y="2286000"/>
            <a:ext cx="1177849" cy="685800"/>
          </a:xfrm>
          <a:prstGeom prst="rect">
            <a:avLst/>
          </a:prstGeom>
          <a:noFill/>
          <a:ln/>
        </p:spPr>
        <p:txBody>
          <a:bodyPr wrap="square" lIns="0" tIns="0" rIns="0" bIns="0" rtlCol="0" anchor="t"/>
          <a:lstStyle/>
          <a:p>
            <a:pPr algn="ctr" indent="0" marL="0">
              <a:buNone/>
            </a:pPr>
            <a:r>
              <a:rPr lang="en-US" sz="1400" b="1" dirty="0">
                <a:solidFill>
                  <a:schemeClr val="tx1"/>
                </a:solidFill>
              </a:rPr>
              <a:t>Report</a:t>
            </a:r>
            <a:endParaRPr lang="en-US" sz="1400" dirty="0"/>
          </a:p>
        </p:txBody>
      </p:sp>
      <p:sp>
        <p:nvSpPr>
          <p:cNvPr id="63" name="Text 61"/>
          <p:cNvSpPr txBox="1"/>
          <p:nvPr/>
        </p:nvSpPr>
        <p:spPr>
          <a:xfrm>
            <a:off x="10410342" y="310896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Code</a:t>
            </a:r>
            <a:endParaRPr lang="en-US" sz="1100" dirty="0"/>
          </a:p>
        </p:txBody>
      </p:sp>
      <p:sp>
        <p:nvSpPr>
          <p:cNvPr id="64" name="Text 62"/>
          <p:cNvSpPr txBox="1"/>
          <p:nvPr/>
        </p:nvSpPr>
        <p:spPr>
          <a:xfrm>
            <a:off x="10410342" y="3383280"/>
            <a:ext cx="1232713" cy="320040"/>
          </a:xfrm>
          <a:prstGeom prst="rect">
            <a:avLst/>
          </a:prstGeom>
          <a:noFill/>
          <a:ln/>
        </p:spPr>
        <p:txBody>
          <a:bodyPr wrap="square" lIns="0" tIns="0" rIns="0" bIns="0" rtlCol="0" anchor="t"/>
          <a:lstStyle/>
          <a:p>
            <a:pPr algn="ctr" indent="0" marL="0">
              <a:buNone/>
            </a:pPr>
            <a:r>
              <a:rPr lang="en-US" sz="1400" b="1" dirty="0">
                <a:solidFill>
                  <a:schemeClr val="accent3"/>
                </a:solidFill>
              </a:rPr>
              <a:t>done</a:t>
            </a:r>
            <a:endParaRPr lang="en-US" sz="1400" dirty="0"/>
          </a:p>
        </p:txBody>
      </p:sp>
      <p:sp>
        <p:nvSpPr>
          <p:cNvPr id="65" name="Text 63"/>
          <p:cNvSpPr txBox="1"/>
          <p:nvPr/>
        </p:nvSpPr>
        <p:spPr>
          <a:xfrm>
            <a:off x="10410342" y="3886200"/>
            <a:ext cx="1232713" cy="274320"/>
          </a:xfrm>
          <a:prstGeom prst="rect">
            <a:avLst/>
          </a:prstGeom>
          <a:noFill/>
          <a:ln/>
        </p:spPr>
        <p:txBody>
          <a:bodyPr wrap="square" lIns="0" tIns="0" rIns="0" bIns="0" rtlCol="0" anchor="t"/>
          <a:lstStyle/>
          <a:p>
            <a:pPr algn="ctr" indent="0" marL="0">
              <a:buNone/>
            </a:pPr>
            <a:r>
              <a:rPr lang="en-US" sz="1100" dirty="0">
                <a:solidFill>
                  <a:schemeClr val="accent5"/>
                </a:solidFill>
              </a:rPr>
              <a:t>Real data</a:t>
            </a:r>
            <a:endParaRPr lang="en-US" sz="1100" dirty="0"/>
          </a:p>
        </p:txBody>
      </p:sp>
      <p:sp>
        <p:nvSpPr>
          <p:cNvPr id="66" name="Text 64"/>
          <p:cNvSpPr txBox="1"/>
          <p:nvPr/>
        </p:nvSpPr>
        <p:spPr>
          <a:xfrm>
            <a:off x="10410342" y="4160520"/>
            <a:ext cx="1232713" cy="320040"/>
          </a:xfrm>
          <a:prstGeom prst="rect">
            <a:avLst/>
          </a:prstGeom>
          <a:noFill/>
          <a:ln/>
        </p:spPr>
        <p:txBody>
          <a:bodyPr wrap="square" lIns="0" tIns="0" rIns="0" bIns="0" rtlCol="0" anchor="t"/>
          <a:lstStyle/>
          <a:p>
            <a:pPr algn="ctr" indent="0" marL="0">
              <a:buNone/>
            </a:pPr>
            <a:r>
              <a:rPr lang="en-US" sz="1400" b="1" dirty="0">
                <a:solidFill>
                  <a:schemeClr val="accent1"/>
                </a:solidFill>
              </a:rPr>
              <a:t>partial</a:t>
            </a:r>
            <a:endParaRPr lang="en-US" sz="1400" dirty="0"/>
          </a:p>
        </p:txBody>
      </p:sp>
      <p:sp>
        <p:nvSpPr>
          <p:cNvPr id="67" name="phase note card"/>
          <p:cNvSpPr/>
          <p:nvPr/>
        </p:nvSpPr>
        <p:spPr>
          <a:xfrm>
            <a:off x="548640" y="4892040"/>
            <a:ext cx="11094415" cy="1188720"/>
          </a:xfrm>
          <a:prstGeom prst="roundRect">
            <a:avLst>
              <a:gd name="adj" fmla="val 9231"/>
            </a:avLst>
          </a:prstGeom>
          <a:solidFill>
            <a:schemeClr val="bg2"/>
          </a:solidFill>
          <a:ln/>
        </p:spPr>
      </p:sp>
      <p:sp>
        <p:nvSpPr>
          <p:cNvPr id="68" name="Text 66"/>
          <p:cNvSpPr txBox="1"/>
          <p:nvPr/>
        </p:nvSpPr>
        <p:spPr>
          <a:xfrm>
            <a:off x="822960" y="4983480"/>
            <a:ext cx="10545775" cy="10058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Partial: ASVspoof is processed, FakeAVCeleb, DFDC and Celeb-DF are not; Grad-CAM shown on the voice only; report section 6.2 (voice) is written.</a:t>
            </a:r>
            <a:endParaRPr lang="en-US" sz="1500" dirty="0"/>
          </a:p>
          <a:p>
            <a:pPr marL="342900" indent="-342900">
              <a:spcAft>
                <a:spcPts val="600"/>
              </a:spcAft>
              <a:buSzPct val="100000"/>
              <a:buChar char="•"/>
            </a:pPr>
            <a:r>
              <a:rPr lang="en-US" sz="1400" dirty="0">
                <a:solidFill>
                  <a:schemeClr val="tx1"/>
                </a:solidFill>
              </a:rPr>
              <a:t>The trained voice model, its test results and every prediction are published on GitHub (models/ and a GitHub Release).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Limitations and next steps</a:t>
            </a:r>
            <a:endParaRPr lang="en-US" sz="3200" dirty="0"/>
          </a:p>
        </p:txBody>
      </p:sp>
      <p:sp>
        <p:nvSpPr>
          <p:cNvPr id="3" name="limits card 0"/>
          <p:cNvSpPr/>
          <p:nvPr/>
        </p:nvSpPr>
        <p:spPr>
          <a:xfrm>
            <a:off x="548640" y="1417320"/>
            <a:ext cx="5394960" cy="4069080"/>
          </a:xfrm>
          <a:prstGeom prst="roundRect">
            <a:avLst>
              <a:gd name="adj" fmla="val 2697"/>
            </a:avLst>
          </a:prstGeom>
          <a:solidFill>
            <a:schemeClr val="bg2"/>
          </a:solidFill>
          <a:ln/>
        </p:spPr>
      </p:sp>
      <p:sp>
        <p:nvSpPr>
          <p:cNvPr id="4" name="Limitations circle"/>
          <p:cNvSpPr/>
          <p:nvPr/>
        </p:nvSpPr>
        <p:spPr>
          <a:xfrm>
            <a:off x="822960" y="1645920"/>
            <a:ext cx="640080" cy="640080"/>
          </a:xfrm>
          <a:prstGeom prst="ellipse">
            <a:avLst/>
          </a:prstGeom>
          <a:solidFill>
            <a:schemeClr val="accent2"/>
          </a:solidFill>
          <a:ln/>
        </p:spPr>
      </p:sp>
      <p:pic>
        <p:nvPicPr>
          <p:cNvPr id="5" name="Limitations icon" descr="preencoded.png">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45920" y="1645920"/>
            <a:ext cx="4023360" cy="640080"/>
          </a:xfrm>
          <a:prstGeom prst="rect">
            <a:avLst/>
          </a:prstGeom>
          <a:noFill/>
          <a:ln/>
        </p:spPr>
        <p:txBody>
          <a:bodyPr wrap="square" lIns="0" tIns="0" rIns="0" bIns="0" rtlCol="0" anchor="ctr"/>
          <a:lstStyle/>
          <a:p>
            <a:pPr indent="0" marL="0">
              <a:buNone/>
            </a:pPr>
            <a:r>
              <a:rPr lang="en-US" sz="2100" b="1" dirty="0">
                <a:solidFill>
                  <a:schemeClr val="tx1"/>
                </a:solidFill>
              </a:rPr>
              <a:t>Limitations</a:t>
            </a:r>
            <a:endParaRPr lang="en-US" sz="2100" dirty="0"/>
          </a:p>
        </p:txBody>
      </p:sp>
      <p:sp>
        <p:nvSpPr>
          <p:cNvPr id="7" name="Text 4"/>
          <p:cNvSpPr txBox="1"/>
          <p:nvPr/>
        </p:nvSpPr>
        <p:spPr>
          <a:xfrm>
            <a:off x="822960" y="2514600"/>
            <a:ext cx="4846320" cy="2834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Subset results (5,000 clips per split), not the full ASVspoof benchmark</a:t>
            </a:r>
            <a:endParaRPr lang="en-US" sz="1600" dirty="0"/>
          </a:p>
          <a:p>
            <a:pPr marL="342900" indent="-342900">
              <a:spcAft>
                <a:spcPts val="600"/>
              </a:spcAft>
              <a:buSzPct val="100000"/>
              <a:buChar char="•"/>
            </a:pPr>
            <a:r>
              <a:rPr lang="en-US" sz="1600" dirty="0">
                <a:solidFill>
                  <a:schemeClr val="tx1"/>
                </a:solidFill>
              </a:rPr>
              <a:t>Studio speech only: other microphones, rooms and compression are untested</a:t>
            </a:r>
            <a:endParaRPr lang="en-US" sz="1600" dirty="0"/>
          </a:p>
          <a:p>
            <a:pPr marL="342900" indent="-342900">
              <a:spcAft>
                <a:spcPts val="600"/>
              </a:spcAft>
              <a:buSzPct val="100000"/>
              <a:buChar char="•"/>
            </a:pPr>
            <a:r>
              <a:rPr lang="en-US" sz="1600" dirty="0">
                <a:solidFill>
                  <a:schemeClr val="tx1"/>
                </a:solidFill>
              </a:rPr>
              <a:t>Threshold 0.5 under-detects several unseen attacks</a:t>
            </a:r>
            <a:endParaRPr lang="en-US" sz="1600" dirty="0"/>
          </a:p>
          <a:p>
            <a:pPr marL="342900" indent="-342900">
              <a:spcAft>
                <a:spcPts val="600"/>
              </a:spcAft>
              <a:buSzPct val="100000"/>
              <a:buChar char="•"/>
            </a:pPr>
            <a:r>
              <a:rPr lang="en-US" sz="1600" dirty="0">
                <a:solidFill>
                  <a:schemeClr val="tx1"/>
                </a:solidFill>
              </a:rPr>
              <a:t>Validation shares attacks with training, so it saturates</a:t>
            </a:r>
            <a:endParaRPr lang="en-US" sz="1600" dirty="0"/>
          </a:p>
          <a:p>
            <a:pPr marL="342900" indent="-342900">
              <a:spcAft>
                <a:spcPts val="600"/>
              </a:spcAft>
              <a:buSzPct val="100000"/>
              <a:buChar char="•"/>
            </a:pPr>
            <a:r>
              <a:rPr lang="en-US" sz="1600" dirty="0">
                <a:solidFill>
                  <a:schemeClr val="tx1"/>
                </a:solidFill>
              </a:rPr>
              <a:t>Face and fusion models not yet trained; Grad-CAM is coarse (4 × 13 on audio)</a:t>
            </a:r>
            <a:endParaRPr lang="en-US" sz="1600" dirty="0"/>
          </a:p>
        </p:txBody>
      </p:sp>
      <p:sp>
        <p:nvSpPr>
          <p:cNvPr id="8" name="limits card 1"/>
          <p:cNvSpPr/>
          <p:nvPr/>
        </p:nvSpPr>
        <p:spPr>
          <a:xfrm>
            <a:off x="6217920" y="1417320"/>
            <a:ext cx="5394960" cy="4069080"/>
          </a:xfrm>
          <a:prstGeom prst="roundRect">
            <a:avLst>
              <a:gd name="adj" fmla="val 2697"/>
            </a:avLst>
          </a:prstGeom>
          <a:solidFill>
            <a:schemeClr val="bg2"/>
          </a:solidFill>
          <a:ln/>
        </p:spPr>
      </p:sp>
      <p:sp>
        <p:nvSpPr>
          <p:cNvPr id="9" name="Next steps circle"/>
          <p:cNvSpPr/>
          <p:nvPr/>
        </p:nvSpPr>
        <p:spPr>
          <a:xfrm>
            <a:off x="6492240" y="1645920"/>
            <a:ext cx="640080" cy="640080"/>
          </a:xfrm>
          <a:prstGeom prst="ellipse">
            <a:avLst/>
          </a:prstGeom>
          <a:solidFill>
            <a:schemeClr val="accent3"/>
          </a:solidFill>
          <a:ln/>
        </p:spPr>
      </p:sp>
      <p:pic>
        <p:nvPicPr>
          <p:cNvPr id="10" name="Next steps icon" descr="preencoded.png">    </p:cNvPr>
          <p:cNvPicPr>
            <a:picLocks noChangeAspect="1"/>
          </p:cNvPicPr>
          <p:nvPr/>
        </p:nvPicPr>
        <p:blipFill>
          <a:blip r:embed="rId2"/>
          <a:stretch>
            <a:fillRect/>
          </a:stretch>
        </p:blipFill>
        <p:spPr>
          <a:xfrm>
            <a:off x="6658661" y="1812341"/>
            <a:ext cx="307238" cy="307238"/>
          </a:xfrm>
          <a:prstGeom prst="rect">
            <a:avLst/>
          </a:prstGeom>
        </p:spPr>
      </p:pic>
      <p:sp>
        <p:nvSpPr>
          <p:cNvPr id="11" name="Text 7"/>
          <p:cNvSpPr txBox="1"/>
          <p:nvPr/>
        </p:nvSpPr>
        <p:spPr>
          <a:xfrm>
            <a:off x="7315200" y="1645920"/>
            <a:ext cx="4023360" cy="640080"/>
          </a:xfrm>
          <a:prstGeom prst="rect">
            <a:avLst/>
          </a:prstGeom>
          <a:noFill/>
          <a:ln/>
        </p:spPr>
        <p:txBody>
          <a:bodyPr wrap="square" lIns="0" tIns="0" rIns="0" bIns="0" rtlCol="0" anchor="ctr"/>
          <a:lstStyle/>
          <a:p>
            <a:pPr indent="0" marL="0">
              <a:buNone/>
            </a:pPr>
            <a:r>
              <a:rPr lang="en-US" sz="2100" b="1" dirty="0">
                <a:solidFill>
                  <a:schemeClr val="tx1"/>
                </a:solidFill>
              </a:rPr>
              <a:t>Next steps</a:t>
            </a:r>
            <a:endParaRPr lang="en-US" sz="2100" dirty="0"/>
          </a:p>
        </p:txBody>
      </p:sp>
      <p:sp>
        <p:nvSpPr>
          <p:cNvPr id="12" name="Text 8"/>
          <p:cNvSpPr txBox="1"/>
          <p:nvPr/>
        </p:nvSpPr>
        <p:spPr>
          <a:xfrm>
            <a:off x="6492240" y="2514600"/>
            <a:ext cx="4846320" cy="2834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Obtain FakeAVCeleb: train face and fusion models, run robustness</a:t>
            </a:r>
            <a:endParaRPr lang="en-US" sz="1600" dirty="0"/>
          </a:p>
          <a:p>
            <a:pPr marL="342900" indent="-342900">
              <a:spcAft>
                <a:spcPts val="600"/>
              </a:spcAft>
              <a:buSzPct val="100000"/>
              <a:buChar char="•"/>
            </a:pPr>
            <a:r>
              <a:rPr lang="en-US" sz="1600" dirty="0">
                <a:solidFill>
                  <a:schemeClr val="tx1"/>
                </a:solidFill>
              </a:rPr>
              <a:t>Validation with held-out attacks and a calibrated threshold</a:t>
            </a:r>
            <a:endParaRPr lang="en-US" sz="1600" dirty="0"/>
          </a:p>
          <a:p>
            <a:pPr marL="342900" indent="-342900">
              <a:spcAft>
                <a:spcPts val="600"/>
              </a:spcAft>
              <a:buSzPct val="100000"/>
              <a:buChar char="•"/>
            </a:pPr>
            <a:r>
              <a:rPr lang="en-US" sz="1600" dirty="0">
                <a:solidFill>
                  <a:schemeClr val="tx1"/>
                </a:solidFill>
              </a:rPr>
              <a:t>Stronger audio models (AASIST, self-supervised speech features)</a:t>
            </a:r>
            <a:endParaRPr lang="en-US" sz="1600" dirty="0"/>
          </a:p>
          <a:p>
            <a:pPr marL="342900" indent="-342900">
              <a:spcAft>
                <a:spcPts val="600"/>
              </a:spcAft>
              <a:buSzPct val="100000"/>
              <a:buChar char="•"/>
            </a:pPr>
            <a:r>
              <a:rPr lang="en-US" sz="1600" dirty="0">
                <a:solidFill>
                  <a:schemeClr val="tx1"/>
                </a:solidFill>
              </a:rPr>
              <a:t>Temporal and lip–audio synchronisation features</a:t>
            </a:r>
            <a:endParaRPr lang="en-US" sz="1600" dirty="0"/>
          </a:p>
          <a:p>
            <a:pPr marL="342900" indent="-342900">
              <a:spcAft>
                <a:spcPts val="600"/>
              </a:spcAft>
              <a:buSzPct val="100000"/>
              <a:buChar char="•"/>
            </a:pPr>
            <a:r>
              <a:rPr lang="en-US" sz="1600" dirty="0">
                <a:solidFill>
                  <a:schemeClr val="tx1"/>
                </a:solidFill>
              </a:rPr>
              <a:t>Test on real recordings from everyday devices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bg1"/>
                </a:solidFill>
              </a:rPr>
              <a:t>Conclusion</a:t>
            </a:r>
            <a:endParaRPr lang="en-US" sz="3200" dirty="0"/>
          </a:p>
        </p:txBody>
      </p:sp>
      <p:sp>
        <p:nvSpPr>
          <p:cNvPr id="3" name="takeaway 0"/>
          <p:cNvSpPr/>
          <p:nvPr/>
        </p:nvSpPr>
        <p:spPr>
          <a:xfrm>
            <a:off x="548640" y="1508760"/>
            <a:ext cx="731520" cy="731520"/>
          </a:xfrm>
          <a:prstGeom prst="ellipse">
            <a:avLst/>
          </a:prstGeom>
          <a:solidFill>
            <a:schemeClr val="accent1"/>
          </a:solidFill>
          <a:ln/>
        </p:spPr>
      </p:sp>
      <p:sp>
        <p:nvSpPr>
          <p:cNvPr id="4" name="Text 2"/>
          <p:cNvSpPr txBox="1"/>
          <p:nvPr/>
        </p:nvSpPr>
        <p:spPr>
          <a:xfrm>
            <a:off x="548640" y="15087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5" name="Text 3"/>
          <p:cNvSpPr txBox="1"/>
          <p:nvPr/>
        </p:nvSpPr>
        <p:spPr>
          <a:xfrm>
            <a:off x="1554480" y="1463040"/>
            <a:ext cx="9966960" cy="457200"/>
          </a:xfrm>
          <a:prstGeom prst="rect">
            <a:avLst/>
          </a:prstGeom>
          <a:noFill/>
          <a:ln/>
        </p:spPr>
        <p:txBody>
          <a:bodyPr wrap="square" lIns="0" tIns="0" rIns="0" bIns="0" rtlCol="0" anchor="t"/>
          <a:lstStyle/>
          <a:p>
            <a:pPr indent="0" marL="0">
              <a:buNone/>
            </a:pPr>
            <a:r>
              <a:rPr lang="en-US" sz="2400" b="1" dirty="0">
                <a:solidFill>
                  <a:schemeClr val="bg1"/>
                </a:solidFill>
              </a:rPr>
              <a:t>Working pipeline</a:t>
            </a:r>
            <a:endParaRPr lang="en-US" sz="2400" dirty="0"/>
          </a:p>
        </p:txBody>
      </p:sp>
      <p:sp>
        <p:nvSpPr>
          <p:cNvPr id="6" name="Text 4"/>
          <p:cNvSpPr txBox="1"/>
          <p:nvPr/>
        </p:nvSpPr>
        <p:spPr>
          <a:xfrm>
            <a:off x="1554480" y="1947672"/>
            <a:ext cx="9966960" cy="548640"/>
          </a:xfrm>
          <a:prstGeom prst="rect">
            <a:avLst/>
          </a:prstGeom>
          <a:noFill/>
          <a:ln/>
        </p:spPr>
        <p:txBody>
          <a:bodyPr wrap="square" lIns="0" tIns="0" rIns="0" bIns="0" rtlCol="0" anchor="t"/>
          <a:lstStyle/>
          <a:p>
            <a:pPr indent="0" marL="0">
              <a:buNone/>
            </a:pPr>
            <a:r>
              <a:rPr lang="en-US" sz="1700" dirty="0">
                <a:solidFill>
                  <a:schemeClr val="bg2"/>
                </a:solidFill>
              </a:rPr>
              <a:t>Data → training → evaluation → explainable demo, reproducible on Colab, 82 automated tests.</a:t>
            </a:r>
            <a:endParaRPr lang="en-US" sz="1700" dirty="0"/>
          </a:p>
        </p:txBody>
      </p:sp>
      <p:sp>
        <p:nvSpPr>
          <p:cNvPr id="7" name="takeaway 1"/>
          <p:cNvSpPr/>
          <p:nvPr/>
        </p:nvSpPr>
        <p:spPr>
          <a:xfrm>
            <a:off x="548640" y="3017520"/>
            <a:ext cx="731520" cy="731520"/>
          </a:xfrm>
          <a:prstGeom prst="ellipse">
            <a:avLst/>
          </a:prstGeom>
          <a:solidFill>
            <a:schemeClr val="accent1"/>
          </a:solidFill>
          <a:ln/>
        </p:spPr>
      </p:sp>
      <p:sp>
        <p:nvSpPr>
          <p:cNvPr id="8" name="Text 6"/>
          <p:cNvSpPr txBox="1"/>
          <p:nvPr/>
        </p:nvSpPr>
        <p:spPr>
          <a:xfrm>
            <a:off x="548640" y="301752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9" name="Text 7"/>
          <p:cNvSpPr txBox="1"/>
          <p:nvPr/>
        </p:nvSpPr>
        <p:spPr>
          <a:xfrm>
            <a:off x="1554480" y="2971800"/>
            <a:ext cx="9966960" cy="457200"/>
          </a:xfrm>
          <a:prstGeom prst="rect">
            <a:avLst/>
          </a:prstGeom>
          <a:noFill/>
          <a:ln/>
        </p:spPr>
        <p:txBody>
          <a:bodyPr wrap="square" lIns="0" tIns="0" rIns="0" bIns="0" rtlCol="0" anchor="t"/>
          <a:lstStyle/>
          <a:p>
            <a:pPr indent="0" marL="0">
              <a:buNone/>
            </a:pPr>
            <a:r>
              <a:rPr lang="en-US" sz="2400" b="1" dirty="0">
                <a:solidFill>
                  <a:schemeClr val="bg1"/>
                </a:solidFill>
              </a:rPr>
              <a:t>Voice model: AUC 0.977, EER 6.2%</a:t>
            </a:r>
            <a:endParaRPr lang="en-US" sz="2400" dirty="0"/>
          </a:p>
        </p:txBody>
      </p:sp>
      <p:sp>
        <p:nvSpPr>
          <p:cNvPr id="10" name="Text 8"/>
          <p:cNvSpPr txBox="1"/>
          <p:nvPr/>
        </p:nvSpPr>
        <p:spPr>
          <a:xfrm>
            <a:off x="1554480" y="3456432"/>
            <a:ext cx="9966960" cy="548640"/>
          </a:xfrm>
          <a:prstGeom prst="rect">
            <a:avLst/>
          </a:prstGeom>
          <a:noFill/>
          <a:ln/>
        </p:spPr>
        <p:txBody>
          <a:bodyPr wrap="square" lIns="0" tIns="0" rIns="0" bIns="0" rtlCol="0" anchor="t"/>
          <a:lstStyle/>
          <a:p>
            <a:pPr indent="0" marL="0">
              <a:buNone/>
            </a:pPr>
            <a:r>
              <a:rPr lang="en-US" sz="1700" dirty="0">
                <a:solidFill>
                  <a:schemeClr val="bg2"/>
                </a:solidFill>
              </a:rPr>
              <a:t>On mostly unseen ASVspoof attacks; strong on most, A17 remains the hard case.</a:t>
            </a:r>
            <a:endParaRPr lang="en-US" sz="1700" dirty="0"/>
          </a:p>
        </p:txBody>
      </p:sp>
      <p:sp>
        <p:nvSpPr>
          <p:cNvPr id="11" name="takeaway 2"/>
          <p:cNvSpPr/>
          <p:nvPr/>
        </p:nvSpPr>
        <p:spPr>
          <a:xfrm>
            <a:off x="548640" y="4526280"/>
            <a:ext cx="731520" cy="731520"/>
          </a:xfrm>
          <a:prstGeom prst="ellipse">
            <a:avLst/>
          </a:prstGeom>
          <a:solidFill>
            <a:schemeClr val="accent1"/>
          </a:solidFill>
          <a:ln/>
        </p:spPr>
      </p:sp>
      <p:sp>
        <p:nvSpPr>
          <p:cNvPr id="12" name="Text 10"/>
          <p:cNvSpPr txBox="1"/>
          <p:nvPr/>
        </p:nvSpPr>
        <p:spPr>
          <a:xfrm>
            <a:off x="548640" y="452628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3" name="Text 11"/>
          <p:cNvSpPr txBox="1"/>
          <p:nvPr/>
        </p:nvSpPr>
        <p:spPr>
          <a:xfrm>
            <a:off x="1554480" y="4480560"/>
            <a:ext cx="9966960" cy="457200"/>
          </a:xfrm>
          <a:prstGeom prst="rect">
            <a:avLst/>
          </a:prstGeom>
          <a:noFill/>
          <a:ln/>
        </p:spPr>
        <p:txBody>
          <a:bodyPr wrap="square" lIns="0" tIns="0" rIns="0" bIns="0" rtlCol="0" anchor="t"/>
          <a:lstStyle/>
          <a:p>
            <a:pPr indent="0" marL="0">
              <a:buNone/>
            </a:pPr>
            <a:r>
              <a:rPr lang="en-US" sz="2400" b="1" dirty="0">
                <a:solidFill>
                  <a:schemeClr val="bg1"/>
                </a:solidFill>
              </a:rPr>
              <a:t>Next: the multimodal claim</a:t>
            </a:r>
            <a:endParaRPr lang="en-US" sz="2400" dirty="0"/>
          </a:p>
        </p:txBody>
      </p:sp>
      <p:sp>
        <p:nvSpPr>
          <p:cNvPr id="14" name="Text 12"/>
          <p:cNvSpPr txBox="1"/>
          <p:nvPr/>
        </p:nvSpPr>
        <p:spPr>
          <a:xfrm>
            <a:off x="1554480" y="4965192"/>
            <a:ext cx="9966960" cy="548640"/>
          </a:xfrm>
          <a:prstGeom prst="rect">
            <a:avLst/>
          </a:prstGeom>
          <a:noFill/>
          <a:ln/>
        </p:spPr>
        <p:txBody>
          <a:bodyPr wrap="square" lIns="0" tIns="0" rIns="0" bIns="0" rtlCol="0" anchor="t"/>
          <a:lstStyle/>
          <a:p>
            <a:pPr indent="0" marL="0">
              <a:buNone/>
            </a:pPr>
            <a:r>
              <a:rPr lang="en-US" sz="1700" dirty="0">
                <a:solidFill>
                  <a:schemeClr val="bg2"/>
                </a:solidFill>
              </a:rPr>
              <a:t>FakeAVCeleb unlocks the face and fusion models, the core comparison still to be measured.</a:t>
            </a:r>
            <a:endParaRPr lang="en-US" sz="1700" dirty="0"/>
          </a:p>
        </p:txBody>
      </p:sp>
      <p:sp>
        <p:nvSpPr>
          <p:cNvPr id="15" name="Text 13"/>
          <p:cNvSpPr txBox="1"/>
          <p:nvPr/>
        </p:nvSpPr>
        <p:spPr>
          <a:xfrm>
            <a:off x="548640" y="6035040"/>
            <a:ext cx="7315200" cy="365760"/>
          </a:xfrm>
          <a:prstGeom prst="rect">
            <a:avLst/>
          </a:prstGeom>
          <a:noFill/>
          <a:ln/>
        </p:spPr>
        <p:txBody>
          <a:bodyPr wrap="square" lIns="0" tIns="0" rIns="0" bIns="0" rtlCol="0" anchor="t"/>
          <a:lstStyle/>
          <a:p>
            <a:pPr indent="0" marL="0">
              <a:buNone/>
            </a:pPr>
            <a:r>
              <a:rPr lang="en-US" sz="1400" dirty="0">
                <a:solidFill>
                  <a:schemeClr val="bg2"/>
                </a:solidFill>
              </a:rPr>
              <a:t>github.com/tanishq1101/robust-multimodal-deepfake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1"/>
                </a:solidFill>
              </a:rPr>
              <a:t>References</a:t>
            </a:r>
            <a:endParaRPr lang="en-US" sz="3200" dirty="0"/>
          </a:p>
        </p:txBody>
      </p:sp>
      <p:sp>
        <p:nvSpPr>
          <p:cNvPr id="3" name="Text 1"/>
          <p:cNvSpPr txBox="1"/>
          <p:nvPr/>
        </p:nvSpPr>
        <p:spPr>
          <a:xfrm>
            <a:off x="548640" y="1417320"/>
            <a:ext cx="5394960" cy="4572000"/>
          </a:xfrm>
          <a:prstGeom prst="rect">
            <a:avLst/>
          </a:prstGeom>
          <a:noFill/>
          <a:ln/>
        </p:spPr>
        <p:txBody>
          <a:bodyPr wrap="square" lIns="0" tIns="0" rIns="0" bIns="0" rtlCol="0" anchor="t"/>
          <a:lstStyle/>
          <a:p>
            <a:pPr indent="0" marL="0">
              <a:spcAft>
                <a:spcPts val="1800"/>
              </a:spcAft>
              <a:buNone/>
            </a:pPr>
            <a:r>
              <a:rPr lang="en-US" sz="1600" dirty="0">
                <a:solidFill>
                  <a:schemeClr val="tx1"/>
                </a:solidFill>
              </a:rPr>
              <a:t>Rössler et al. FaceForensics++. ICCV 2019.</a:t>
            </a:r>
            <a:endParaRPr lang="en-US" sz="1600" dirty="0"/>
          </a:p>
          <a:p>
            <a:pPr indent="0" marL="0">
              <a:spcAft>
                <a:spcPts val="1800"/>
              </a:spcAft>
              <a:buNone/>
            </a:pPr>
            <a:r>
              <a:rPr lang="en-US" sz="1600" dirty="0">
                <a:solidFill>
                  <a:schemeClr val="tx1"/>
                </a:solidFill>
              </a:rPr>
              <a:t>Li et al. Celeb-DF. CVPR 2020.</a:t>
            </a:r>
            <a:endParaRPr lang="en-US" sz="1600" dirty="0"/>
          </a:p>
          <a:p>
            <a:pPr indent="0" marL="0">
              <a:spcAft>
                <a:spcPts val="1800"/>
              </a:spcAft>
              <a:buNone/>
            </a:pPr>
            <a:r>
              <a:rPr lang="en-US" sz="1600" dirty="0">
                <a:solidFill>
                  <a:schemeClr val="tx1"/>
                </a:solidFill>
              </a:rPr>
              <a:t>Dolhansky et al. The DeepFake Detection Challenge Dataset. arXiv:2006.07397, 2020.</a:t>
            </a:r>
            <a:endParaRPr lang="en-US" sz="1600" dirty="0"/>
          </a:p>
          <a:p>
            <a:pPr indent="0" marL="0">
              <a:spcAft>
                <a:spcPts val="1800"/>
              </a:spcAft>
              <a:buNone/>
            </a:pPr>
            <a:r>
              <a:rPr lang="en-US" sz="1600" dirty="0">
                <a:solidFill>
                  <a:schemeClr val="tx1"/>
                </a:solidFill>
              </a:rPr>
              <a:t>Khalid et al. FakeAVCeleb. NeurIPS Datasets and Benchmarks, 2021.</a:t>
            </a:r>
            <a:endParaRPr lang="en-US" sz="1600" dirty="0"/>
          </a:p>
          <a:p>
            <a:pPr indent="0" marL="0">
              <a:spcAft>
                <a:spcPts val="1800"/>
              </a:spcAft>
              <a:buNone/>
            </a:pPr>
            <a:r>
              <a:rPr lang="en-US" sz="1600" dirty="0">
                <a:solidFill>
                  <a:schemeClr val="tx1"/>
                </a:solidFill>
              </a:rPr>
              <a:t>Wang et al. ASVspoof 2019. Computer Speech &amp; Language 64, 2020.</a:t>
            </a:r>
            <a:endParaRPr lang="en-US" sz="1600" dirty="0"/>
          </a:p>
          <a:p>
            <a:pPr indent="0" marL="0">
              <a:spcAft>
                <a:spcPts val="1800"/>
              </a:spcAft>
              <a:buNone/>
            </a:pPr>
            <a:r>
              <a:rPr lang="en-US" sz="1600" dirty="0">
                <a:solidFill>
                  <a:schemeClr val="tx1"/>
                </a:solidFill>
              </a:rPr>
              <a:t>Jung et al. AASIST. ICASSP 2022.</a:t>
            </a:r>
            <a:endParaRPr lang="en-US" sz="1600" dirty="0"/>
          </a:p>
        </p:txBody>
      </p:sp>
      <p:sp>
        <p:nvSpPr>
          <p:cNvPr id="4" name="Text 2"/>
          <p:cNvSpPr txBox="1"/>
          <p:nvPr/>
        </p:nvSpPr>
        <p:spPr>
          <a:xfrm>
            <a:off x="6217920" y="1417320"/>
            <a:ext cx="5394960" cy="4572000"/>
          </a:xfrm>
          <a:prstGeom prst="rect">
            <a:avLst/>
          </a:prstGeom>
          <a:noFill/>
          <a:ln/>
        </p:spPr>
        <p:txBody>
          <a:bodyPr wrap="square" lIns="0" tIns="0" rIns="0" bIns="0" rtlCol="0" anchor="t"/>
          <a:lstStyle/>
          <a:p>
            <a:pPr indent="0" marL="0">
              <a:spcAft>
                <a:spcPts val="1800"/>
              </a:spcAft>
              <a:buNone/>
            </a:pPr>
            <a:r>
              <a:rPr lang="en-US" sz="1600" dirty="0">
                <a:solidFill>
                  <a:schemeClr val="tx1"/>
                </a:solidFill>
              </a:rPr>
              <a:t>Tan &amp; Le. EfficientNet. ICML 2019.</a:t>
            </a:r>
            <a:endParaRPr lang="en-US" sz="1600" dirty="0"/>
          </a:p>
          <a:p>
            <a:pPr indent="0" marL="0">
              <a:spcAft>
                <a:spcPts val="1800"/>
              </a:spcAft>
              <a:buNone/>
            </a:pPr>
            <a:r>
              <a:rPr lang="en-US" sz="1600" dirty="0">
                <a:solidFill>
                  <a:schemeClr val="tx1"/>
                </a:solidFill>
              </a:rPr>
              <a:t>He et al. Deep Residual Learning (ResNet). CVPR 2016.</a:t>
            </a:r>
            <a:endParaRPr lang="en-US" sz="1600" dirty="0"/>
          </a:p>
          <a:p>
            <a:pPr indent="0" marL="0">
              <a:spcAft>
                <a:spcPts val="1800"/>
              </a:spcAft>
              <a:buNone/>
            </a:pPr>
            <a:r>
              <a:rPr lang="en-US" sz="1600" dirty="0">
                <a:solidFill>
                  <a:schemeClr val="tx1"/>
                </a:solidFill>
              </a:rPr>
              <a:t>Park et al. SpecAugment. Interspeech 2019.</a:t>
            </a:r>
            <a:endParaRPr lang="en-US" sz="1600" dirty="0"/>
          </a:p>
          <a:p>
            <a:pPr indent="0" marL="0">
              <a:spcAft>
                <a:spcPts val="1800"/>
              </a:spcAft>
              <a:buNone/>
            </a:pPr>
            <a:r>
              <a:rPr lang="en-US" sz="1600" dirty="0">
                <a:solidFill>
                  <a:schemeClr val="tx1"/>
                </a:solidFill>
              </a:rPr>
              <a:t>Selvaraju et al. Grad-CAM. ICCV 2017.</a:t>
            </a:r>
            <a:endParaRPr lang="en-US" sz="1600" dirty="0"/>
          </a:p>
          <a:p>
            <a:pPr indent="0" marL="0">
              <a:spcAft>
                <a:spcPts val="1800"/>
              </a:spcAft>
              <a:buNone/>
            </a:pPr>
            <a:r>
              <a:rPr lang="en-US" sz="1600" dirty="0">
                <a:solidFill>
                  <a:schemeClr val="tx1"/>
                </a:solidFill>
              </a:rPr>
              <a:t>Neverova et al. ModDrop. IEEE TPAMI 38(8), 2016.</a:t>
            </a:r>
            <a:endParaRPr lang="en-US" sz="1600" dirty="0"/>
          </a:p>
          <a:p>
            <a:pPr indent="0" marL="0">
              <a:spcAft>
                <a:spcPts val="1800"/>
              </a:spcAft>
              <a:buNone/>
            </a:pPr>
            <a:r>
              <a:rPr lang="en-US" sz="1600" dirty="0">
                <a:solidFill>
                  <a:schemeClr val="tx1"/>
                </a:solidFill>
              </a:rPr>
              <a:t>Wu et al. YuNet. Machine Intelligence Research 20, 2023.</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Deepfake Forensics">
  <a:themeElements>
    <a:clrScheme name="Deepfake Forensics">
      <a:dk1>
        <a:srgbClr val="0F172A"/>
      </a:dk1>
      <a:lt1>
        <a:srgbClr val="FFFFFF"/>
      </a:lt1>
      <a:dk2>
        <a:srgbClr val="1E1B4B"/>
      </a:dk2>
      <a:lt2>
        <a:srgbClr val="EEF2FF"/>
      </a:lt2>
      <a:accent1>
        <a:srgbClr val="4F46E5"/>
      </a:accent1>
      <a:accent2>
        <a:srgbClr val="DC2626"/>
      </a:accent2>
      <a:accent3>
        <a:srgbClr val="16A34A"/>
      </a:accent3>
      <a:accent4>
        <a:srgbClr val="D97706"/>
      </a:accent4>
      <a:accent5>
        <a:srgbClr val="64748B"/>
      </a:accent5>
      <a:accent6>
        <a:srgbClr val="0EA5E9"/>
      </a:accent6>
      <a:hlink>
        <a:srgbClr val="4F46E5"/>
      </a:hlink>
      <a:folHlink>
        <a:srgbClr val="6D28D9"/>
      </a:folHlink>
    </a:clrScheme>
    <a:fontScheme name="Deepfake Forensic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 Multimodal Deepfake Analysis</dc:title>
  <dc:subject>Project review</dc:subject>
  <dc:creator>PptxGenJS</dc:creator>
  <cp:lastModifiedBy>PptxGenJS</cp:lastModifiedBy>
  <cp:revision>1</cp:revision>
  <dcterms:created xsi:type="dcterms:W3CDTF">2026-10-11T15:55:59Z</dcterms:created>
  <dcterms:modified xsi:type="dcterms:W3CDTF">2026-10-11T15:55:59Z</dcterms:modified>
</cp:coreProperties>
</file>